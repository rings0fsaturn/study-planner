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Planning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4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Self-Directed Learners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2286000" cy="0"/>
          </a:xfrm>
          <a:prstGeom prst="line">
            <a:avLst/>
          </a:prstGeom>
          <a:noFill/>
          <a:ln w="12700">
            <a:solidFill>
              <a:srgbClr val="C997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673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2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Data Science &amp; AI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2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 · Great Learning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640080"/>
            <a:ext cx="4663440" cy="173736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640080"/>
            <a:ext cx="73152" cy="1737360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11" name="Shape 9"/>
          <p:cNvSpPr/>
          <p:nvPr/>
        </p:nvSpPr>
        <p:spPr>
          <a:xfrm>
            <a:off x="4379976" y="768096"/>
            <a:ext cx="384048" cy="384048"/>
          </a:xfrm>
          <a:prstGeom prst="ellipse">
            <a:avLst/>
          </a:prstGeom>
          <a:solidFill>
            <a:srgbClr val="C9974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7509" y="875629"/>
            <a:ext cx="168981" cy="1689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92040" y="758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70832" y="12801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learners make study plans that become useless within days — they fall behind or move ahead, and the plan never adjusts.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0" y="2606040"/>
            <a:ext cx="4663440" cy="17373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0" y="2606040"/>
            <a:ext cx="73152" cy="1737360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17" name="Shape 14"/>
          <p:cNvSpPr/>
          <p:nvPr/>
        </p:nvSpPr>
        <p:spPr>
          <a:xfrm>
            <a:off x="4379976" y="273405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509" y="2841589"/>
            <a:ext cx="168981" cy="16898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2040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370832" y="32461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planning system that learns your real pace, detects when your habits change, and automatically adjusts your schedule.</a:t>
            </a:r>
            <a:endParaRPr lang="en-US" sz="1300" dirty="0"/>
          </a:p>
        </p:txBody>
      </p:sp>
      <p:pic>
        <p:nvPicPr>
          <p:cNvPr id="21" name="Image 2" descr="/home/claude/zeroth/pes-logo-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17720"/>
            <a:ext cx="79513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1148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  ·  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 &amp; Feasibility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60520" cy="352044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1257300"/>
            <a:ext cx="411480" cy="411480"/>
          </a:xfrm>
          <a:prstGeom prst="ellipse">
            <a:avLst/>
          </a:prstGeom>
          <a:solidFill>
            <a:srgbClr val="0F3D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14" y="1372514"/>
            <a:ext cx="181051" cy="1810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web application that logs every study session automatically.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captures: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8368" y="2743200"/>
            <a:ext cx="237744" cy="237744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36" y="2809768"/>
            <a:ext cx="104607" cy="10460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8368" y="305409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36" y="3120664"/>
            <a:ext cx="104607" cy="1046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" y="336499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36" y="3431560"/>
            <a:ext cx="104607" cy="1046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58368" y="367588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36" y="3742456"/>
            <a:ext cx="104607" cy="104607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58368" y="398678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36" y="4053352"/>
            <a:ext cx="104607" cy="104607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94360" y="2743200"/>
            <a:ext cx="3749040" cy="1783080"/>
          </a:xfrm>
          <a:prstGeom prst="rect">
            <a:avLst/>
          </a:prstGeom>
          <a:solidFill>
            <a:srgbClr val="F7F5F0"/>
          </a:solidFill>
          <a:ln/>
        </p:spPr>
      </p:sp>
      <p:sp>
        <p:nvSpPr>
          <p:cNvPr id="21" name="Shape 13"/>
          <p:cNvSpPr/>
          <p:nvPr/>
        </p:nvSpPr>
        <p:spPr>
          <a:xfrm>
            <a:off x="685800" y="2788920"/>
            <a:ext cx="237744" cy="237744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368" y="2855488"/>
            <a:ext cx="104607" cy="10460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51560" y="2788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studied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685800" y="3118104"/>
            <a:ext cx="237744" cy="237744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368" y="3184672"/>
            <a:ext cx="104607" cy="104607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5156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duration</a:t>
            </a:r>
            <a:endParaRPr lang="en-US" sz="1150" dirty="0"/>
          </a:p>
        </p:txBody>
      </p:sp>
      <p:sp>
        <p:nvSpPr>
          <p:cNvPr id="27" name="Shape 17"/>
          <p:cNvSpPr/>
          <p:nvPr/>
        </p:nvSpPr>
        <p:spPr>
          <a:xfrm>
            <a:off x="685800" y="3447288"/>
            <a:ext cx="237744" cy="237744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368" y="3513856"/>
            <a:ext cx="104607" cy="104607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051560" y="3447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duration</a:t>
            </a:r>
            <a:endParaRPr lang="en-US" sz="1150" dirty="0"/>
          </a:p>
        </p:txBody>
      </p:sp>
      <p:sp>
        <p:nvSpPr>
          <p:cNvPr id="30" name="Shape 19"/>
          <p:cNvSpPr/>
          <p:nvPr/>
        </p:nvSpPr>
        <p:spPr>
          <a:xfrm>
            <a:off x="685800" y="3776472"/>
            <a:ext cx="237744" cy="237744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368" y="3843040"/>
            <a:ext cx="104607" cy="104607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051560" y="3776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150" dirty="0"/>
          </a:p>
        </p:txBody>
      </p:sp>
      <p:sp>
        <p:nvSpPr>
          <p:cNvPr id="33" name="Shape 21"/>
          <p:cNvSpPr/>
          <p:nvPr/>
        </p:nvSpPr>
        <p:spPr>
          <a:xfrm>
            <a:off x="685800" y="4105656"/>
            <a:ext cx="237744" cy="237744"/>
          </a:xfrm>
          <a:prstGeom prst="ellipse">
            <a:avLst/>
          </a:prstGeom>
          <a:solidFill>
            <a:srgbClr val="3D7068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368" y="4172224"/>
            <a:ext cx="104607" cy="104607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105156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150" dirty="0"/>
          </a:p>
        </p:txBody>
      </p:sp>
      <p:sp>
        <p:nvSpPr>
          <p:cNvPr id="36" name="Shape 23"/>
          <p:cNvSpPr/>
          <p:nvPr/>
        </p:nvSpPr>
        <p:spPr>
          <a:xfrm>
            <a:off x="4617720" y="1143000"/>
            <a:ext cx="4160520" cy="352044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7" name="Shape 24"/>
          <p:cNvSpPr/>
          <p:nvPr/>
        </p:nvSpPr>
        <p:spPr>
          <a:xfrm>
            <a:off x="4823460" y="12573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8674" y="1372514"/>
            <a:ext cx="181051" cy="181051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40" name="Text 26"/>
          <p:cNvSpPr/>
          <p:nvPr/>
        </p:nvSpPr>
        <p:spPr>
          <a:xfrm>
            <a:off x="4846320" y="18288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9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50–500</a:t>
            </a:r>
            <a:endParaRPr lang="en-US" sz="4400" dirty="0"/>
          </a:p>
        </p:txBody>
      </p:sp>
      <p:sp>
        <p:nvSpPr>
          <p:cNvPr id="41" name="Text 27"/>
          <p:cNvSpPr/>
          <p:nvPr/>
        </p:nvSpPr>
        <p:spPr>
          <a:xfrm>
            <a:off x="4846320" y="2468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2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expected over project duration</a:t>
            </a:r>
            <a:endParaRPr lang="en-US" sz="1050" dirty="0"/>
          </a:p>
        </p:txBody>
      </p:sp>
      <p:sp>
        <p:nvSpPr>
          <p:cNvPr id="42" name="Text 28"/>
          <p:cNvSpPr/>
          <p:nvPr/>
        </p:nvSpPr>
        <p:spPr>
          <a:xfrm>
            <a:off x="4846320" y="288036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built into the application itself — no external dataset dependency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uses the application daily — real study data, not fabricated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algorithm comparison: augment from observed real patterns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compute — all models train on CPU, no GPU needed</a:t>
            </a:r>
            <a:endParaRPr lang="en-US" sz="1100" dirty="0"/>
          </a:p>
        </p:txBody>
      </p:sp>
      <p:pic>
        <p:nvPicPr>
          <p:cNvPr id="43" name="Image 12" descr="/home/claude/zeroth/pes-logo-clea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4777740"/>
            <a:ext cx="715617" cy="329184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1245969" y="4818888"/>
            <a:ext cx="0" cy="246888"/>
          </a:xfrm>
          <a:prstGeom prst="line">
            <a:avLst/>
          </a:prstGeom>
          <a:noFill/>
          <a:ln w="6350">
            <a:solidFill>
              <a:srgbClr val="D7D2C5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1355697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</a:t>
            </a:r>
            <a:endParaRPr lang="en-US" sz="900" dirty="0"/>
          </a:p>
        </p:txBody>
      </p:sp>
      <p:sp>
        <p:nvSpPr>
          <p:cNvPr id="46" name="Text 31"/>
          <p:cNvSpPr/>
          <p:nvPr/>
        </p:nvSpPr>
        <p:spPr>
          <a:xfrm>
            <a:off x="594360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  ·  Zeroth Review  · 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Areas, Gap &amp; Expected Outcome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F2E4C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685800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8092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exist for tracking study time, predicting performance, and generating schedules — but no system connects these into a closed loop that watches, learns, and adjusts automatically.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to research &amp; identify algorithms for: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84048" cy="384048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a student's actual study pace?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modeling [1, 2]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384048" cy="384048"/>
          </a:xfrm>
          <a:prstGeom prst="ellipse">
            <a:avLst/>
          </a:prstGeom>
          <a:solidFill>
            <a:srgbClr val="F7F5F0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26151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detect when their study behavior changes?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2660904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660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question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35808"/>
            <a:ext cx="384048" cy="384048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0358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predict when they will finish (with confidence)?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081528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2E7D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081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regression [4]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384048" cy="384048"/>
          </a:xfrm>
          <a:prstGeom prst="ellipse">
            <a:avLst/>
          </a:prstGeom>
          <a:solidFill>
            <a:srgbClr val="F7F5F0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34564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automatically adjust the schedule?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502152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502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question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77056"/>
            <a:ext cx="384048" cy="384048"/>
          </a:xfrm>
          <a:prstGeom prst="ellipse">
            <a:avLst/>
          </a:prstGeom>
          <a:solidFill>
            <a:srgbClr val="F7F5F0"/>
          </a:solidFill>
          <a:ln w="12700">
            <a:solidFill>
              <a:srgbClr val="D7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7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38770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adaptive vs. static planning?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3922776"/>
            <a:ext cx="2606040" cy="292608"/>
          </a:xfrm>
          <a:prstGeom prst="roundRect">
            <a:avLst>
              <a:gd name="adj" fmla="val 15625"/>
            </a:avLst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9227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research question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343400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 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study planning system that outperforms static scheduling for self-directed learners.</a:t>
            </a:r>
            <a:endParaRPr lang="en-US" sz="950" dirty="0"/>
          </a:p>
        </p:txBody>
      </p:sp>
      <p:pic>
        <p:nvPicPr>
          <p:cNvPr id="35" name="Image 0" descr="/home/claude/zeroth/pe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77740"/>
            <a:ext cx="715617" cy="329184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1245969" y="4818888"/>
            <a:ext cx="0" cy="246888"/>
          </a:xfrm>
          <a:prstGeom prst="line">
            <a:avLst/>
          </a:prstGeom>
          <a:noFill/>
          <a:ln w="6350">
            <a:solidFill>
              <a:srgbClr val="D7D2C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355697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94360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  ·  Zeroth Review  · 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recent papers (2024–2026) from IEEE, Cognitive Science, and ACM venues.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" cy="5943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7909560" cy="59436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Zanellati et al.,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"Hybrid Models for Knowledge Tracing"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05840" y="1746504"/>
            <a:ext cx="2377440" cy="201168"/>
          </a:xfrm>
          <a:prstGeom prst="roundRect">
            <a:avLst>
              <a:gd name="adj" fmla="val 13636"/>
            </a:avLst>
          </a:prstGeom>
          <a:solidFill>
            <a:srgbClr val="0F3D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746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Learning Technologies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0" y="1746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502920" cy="5943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574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057400"/>
            <a:ext cx="7909560" cy="59436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1031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Hierarchical Bayesian Model of Adaptive Teaching"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2386584"/>
            <a:ext cx="2377440" cy="201168"/>
          </a:xfrm>
          <a:prstGeom prst="roundRect">
            <a:avLst>
              <a:gd name="adj" fmla="val 13636"/>
            </a:avLst>
          </a:prstGeom>
          <a:solidFill>
            <a:srgbClr val="3D706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386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Science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0" y="2386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502920" cy="5943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697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2697480"/>
            <a:ext cx="7909560" cy="59436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743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Saqr et al.,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"Early Warning Signals Before Dropping Out"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05840" y="3026664"/>
            <a:ext cx="2377440" cy="201168"/>
          </a:xfrm>
          <a:prstGeom prst="roundRect">
            <a:avLst>
              <a:gd name="adj" fmla="val 13636"/>
            </a:avLst>
          </a:prstGeom>
          <a:solidFill>
            <a:srgbClr val="0F3D3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0266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ACM LAK '26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0" y="3026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502920" cy="5943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3375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8680" y="3337560"/>
            <a:ext cx="7909560" cy="59436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383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Perez-Suay et al.,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"Student Performance from Moodle Logs with Gaussian Processes"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05840" y="3666744"/>
            <a:ext cx="2377440" cy="201168"/>
          </a:xfrm>
          <a:prstGeom prst="roundRect">
            <a:avLst>
              <a:gd name="adj" fmla="val 13636"/>
            </a:avLst>
          </a:prstGeom>
          <a:solidFill>
            <a:srgbClr val="0F3D3E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3666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RITA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0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502920" cy="59436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77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68680" y="3977640"/>
            <a:ext cx="7909560" cy="594360"/>
          </a:xfrm>
          <a:prstGeom prst="rect">
            <a:avLst/>
          </a:prstGeom>
          <a:solidFill>
            <a:srgbClr val="F7F5F0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40233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Pagano et al., </a:t>
            </a:r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"Efficiency of Adaptive Learning Paths"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05840" y="4306824"/>
            <a:ext cx="2377440" cy="201168"/>
          </a:xfrm>
          <a:prstGeom prst="roundRect">
            <a:avLst>
              <a:gd name="adj" fmla="val 13636"/>
            </a:avLst>
          </a:prstGeom>
          <a:solidFill>
            <a:srgbClr val="3D7068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4306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Tech. &amp; Smart Education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0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pic>
        <p:nvPicPr>
          <p:cNvPr id="40" name="Image 0" descr="/home/claude/zeroth/pe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77740"/>
            <a:ext cx="715617" cy="329184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1245969" y="4818888"/>
            <a:ext cx="0" cy="246888"/>
          </a:xfrm>
          <a:prstGeom prst="line">
            <a:avLst/>
          </a:prstGeom>
          <a:noFill/>
          <a:ln w="6350">
            <a:solidFill>
              <a:srgbClr val="D7D2C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55697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94360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  ·  Zeroth Review  · 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Learnings from Literature &amp; The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C9974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Bayesian + ML methods consistently outperform either approach alone for learner modeling.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09344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C9974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093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63624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Bayesian models work well even with very small datasets — validated with just 312 participants.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C9974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75688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 shows detectable statistical warning signals — 88% of dropouts showed signs beforehand.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C9974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33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regression predicts student performance from platform logs with R = 0.89 accuracy.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C9974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455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099816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paths reduce study time vs. static paths — validated on 2,064 students.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703320"/>
            <a:ext cx="73152" cy="777240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76472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techniques exist in isolation — no system combines learner modeling, behavior detection, prediction, and adaptive scheduling into one connected, closed-loop system.</a:t>
            </a:r>
            <a:endParaRPr lang="en-US" sz="1000" dirty="0"/>
          </a:p>
        </p:txBody>
      </p:sp>
      <p:pic>
        <p:nvPicPr>
          <p:cNvPr id="22" name="Image 0" descr="/home/claude/zeroth/pe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77740"/>
            <a:ext cx="715617" cy="329184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245969" y="4818888"/>
            <a:ext cx="0" cy="246888"/>
          </a:xfrm>
          <a:prstGeom prst="line">
            <a:avLst/>
          </a:prstGeom>
          <a:noFill/>
          <a:ln w="6350">
            <a:solidFill>
              <a:srgbClr val="D7D2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55697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  ·  Zeroth Review  · 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3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069080" cy="164592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097280"/>
            <a:ext cx="4069080" cy="164592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115568"/>
            <a:ext cx="128016" cy="128016"/>
          </a:xfrm>
          <a:prstGeom prst="ellipse">
            <a:avLst/>
          </a:prstGeom>
          <a:solidFill>
            <a:srgbClr val="C997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07992" y="1115568"/>
            <a:ext cx="128016" cy="128016"/>
          </a:xfrm>
          <a:prstGeom prst="ellipse">
            <a:avLst/>
          </a:prstGeom>
          <a:solidFill>
            <a:srgbClr val="C997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7072" y="1115568"/>
            <a:ext cx="128016" cy="128016"/>
          </a:xfrm>
          <a:prstGeom prst="ellipse">
            <a:avLst/>
          </a:prstGeom>
          <a:solidFill>
            <a:srgbClr val="C997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298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0" y="1298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75320" y="1298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4160520" cy="2926080"/>
          </a:xfrm>
          <a:prstGeom prst="rect">
            <a:avLst/>
          </a:prstGeom>
          <a:solidFill>
            <a:srgbClr val="F7F5F0"/>
          </a:solidFill>
          <a:ln w="9525">
            <a:solidFill>
              <a:srgbClr val="D7D2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91640"/>
            <a:ext cx="4160520" cy="566928"/>
          </a:xfrm>
          <a:prstGeom prst="rect">
            <a:avLst/>
          </a:prstGeom>
          <a:solidFill>
            <a:srgbClr val="3D706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64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1764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2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months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+ Build Baseline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404872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(15+ papers), identify algorithms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web app: session logging, static planner, dashboard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compare candidate algorithms offline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study data through daily usage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4114800"/>
            <a:ext cx="38313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2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4114800"/>
            <a:ext cx="54864" cy="384048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1148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 (static mode) + report + draft paper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691640"/>
            <a:ext cx="4160520" cy="292608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7720" y="1691640"/>
            <a:ext cx="4160520" cy="566928"/>
          </a:xfrm>
          <a:prstGeom prst="rect">
            <a:avLst/>
          </a:prstGeom>
          <a:solidFill>
            <a:srgbClr val="0A2A2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764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1764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F2E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months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9659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Intelligence + Evaluate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2404872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best algorithms: pace, change detection, prediction, auto-adjust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static plan (Phase 1) vs adaptive plan (Phase 2)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improvement in schedule adherence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82312" y="4114800"/>
            <a:ext cx="3831336" cy="384048"/>
          </a:xfrm>
          <a:prstGeom prst="rect">
            <a:avLst/>
          </a:prstGeom>
          <a:solidFill>
            <a:srgbClr val="F2E4C6"/>
          </a:solidFill>
          <a:ln/>
        </p:spPr>
      </p:sp>
      <p:sp>
        <p:nvSpPr>
          <p:cNvPr id="28" name="Shape 26"/>
          <p:cNvSpPr/>
          <p:nvPr/>
        </p:nvSpPr>
        <p:spPr>
          <a:xfrm>
            <a:off x="4782312" y="4114800"/>
            <a:ext cx="54864" cy="384048"/>
          </a:xfrm>
          <a:prstGeom prst="rect">
            <a:avLst/>
          </a:prstGeom>
          <a:solidFill>
            <a:srgbClr val="C9974B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41148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99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 </a:t>
            </a:r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adaptive app + report + journal submission</a:t>
            </a:r>
            <a:endParaRPr lang="en-US" sz="850" dirty="0"/>
          </a:p>
        </p:txBody>
      </p:sp>
      <p:pic>
        <p:nvPicPr>
          <p:cNvPr id="30" name="Image 0" descr="/home/claude/zeroth/pe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777740"/>
            <a:ext cx="715617" cy="329184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245969" y="4818888"/>
            <a:ext cx="0" cy="246888"/>
          </a:xfrm>
          <a:prstGeom prst="line">
            <a:avLst/>
          </a:prstGeom>
          <a:noFill/>
          <a:ln w="6350">
            <a:solidFill>
              <a:srgbClr val="D7D2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55697" y="4800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Study Planning for Self-Directed Learners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94360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Saji  ·  Zeroth Review  · 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Study Planning for Self-Directed Learners</dc:title>
  <dc:subject>PptxGenJS Presentation</dc:subject>
  <dc:creator>Rohit Saji</dc:creator>
  <cp:lastModifiedBy>Rohit Saji</cp:lastModifiedBy>
  <cp:revision>1</cp:revision>
  <dcterms:created xsi:type="dcterms:W3CDTF">2026-05-24T04:52:28Z</dcterms:created>
  <dcterms:modified xsi:type="dcterms:W3CDTF">2026-05-24T04:52:28Z</dcterms:modified>
</cp:coreProperties>
</file>