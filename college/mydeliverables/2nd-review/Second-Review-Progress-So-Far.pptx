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270955200000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54864" cy="6270955200000"/>
          </a:xfrm>
          <a:prstGeom prst="rect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B4C9"/>
                </a:solidFill>
                <a:latin typeface="Calibri"/>
              </a:rPr>
              <a:t>M.TECH DISSERTATION  · 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196596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0" i="0">
                <a:solidFill>
                  <a:srgbClr val="FFFFFF"/>
                </a:solidFill>
                <a:latin typeface="Georgia"/>
              </a:rPr>
              <a:t>Second Review: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200" b="0" i="0">
                <a:solidFill>
                  <a:srgbClr val="6FC9CE"/>
                </a:solidFill>
                <a:latin typeface="Georgia"/>
              </a:rPr>
              <a:t>Progress So Far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0" i="1">
                <a:solidFill>
                  <a:srgbClr val="CFD8E6"/>
                </a:solidFill>
                <a:latin typeface="Calibri"/>
              </a:rPr>
              <a:t>A study-planning app that builds your plan — and keeps fixing it as you learn.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" y="5029200"/>
            <a:ext cx="2743200" cy="20116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2303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Rohit</a:t>
            </a:r>
            <a:r>
              <a:rPr sz="1400" b="0" i="0">
                <a:solidFill>
                  <a:srgbClr val="9FB4C9"/>
                </a:solidFill>
                <a:latin typeface="Calibri"/>
              </a:rPr>
              <a:t>     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548640"/>
            <a:ext cx="10424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A8F"/>
                </a:solidFill>
                <a:latin typeface="Calibri"/>
              </a:rPr>
              <a:t>THIS WEEK'S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 i="0">
                <a:solidFill>
                  <a:srgbClr val="1B2A4A"/>
                </a:solidFill>
                <a:latin typeface="Georgia"/>
              </a:rPr>
              <a:t>Teaching the Plan to Read Pace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The app guesses how fast you learn so it can plan the right amount. This week I made that guess much sharper.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5074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68880"/>
            <a:ext cx="109728" cy="2240280"/>
          </a:xfrm>
          <a:prstGeom prst="rect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6B7480"/>
                </a:solidFill>
                <a:latin typeface="Calibri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2303C"/>
                </a:solidFill>
                <a:latin typeface="Georgia"/>
              </a:rPr>
              <a:t>The old way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Just averaged your recent sessions. Simple, but easily thrown off by an unusual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2468880"/>
            <a:ext cx="5074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73952" y="2468880"/>
            <a:ext cx="109728" cy="2240280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67004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6A"/>
                </a:solidFill>
                <a:latin typeface="Calibri"/>
              </a:rPr>
              <a:t>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3072384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22303C"/>
                </a:solidFill>
                <a:latin typeface="Georgia"/>
              </a:rPr>
              <a:t>The new way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303C"/>
                </a:solidFill>
                <a:latin typeface="Calibri"/>
              </a:rPr>
              <a:t>Learns your typical pace and leans on it when a day looks odd — so one bad session doesn't wreck the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56048"/>
            <a:ext cx="10908792" cy="10789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28346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6FC9CE"/>
                </a:solidFill>
                <a:latin typeface="Georgia"/>
              </a:rPr>
              <a:t>~3×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D8E6"/>
                </a:solidFill>
                <a:latin typeface="Calibri"/>
              </a:rPr>
              <a:t>more accurate at reading 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86200" y="5138928"/>
            <a:ext cx="18288" cy="713232"/>
          </a:xfrm>
          <a:prstGeom prst="rect">
            <a:avLst/>
          </a:prstGeom>
          <a:solidFill>
            <a:srgbClr val="3A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5047488"/>
            <a:ext cx="7315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And it held up under tough testing.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CFD8E6"/>
                </a:solidFill>
                <a:latin typeface="Calibri"/>
              </a:rPr>
              <a:t>Checked across many learner types and journey lengths — the improvement was real, not luck.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Study Planner  ·  M.Tech Phase 1  ·  Second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548640"/>
            <a:ext cx="10424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860B"/>
                </a:solidFill>
                <a:latin typeface="Calibri"/>
              </a:rPr>
              <a:t>AN HONEST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 i="0">
                <a:solidFill>
                  <a:srgbClr val="1B2A4A"/>
                </a:solidFill>
                <a:latin typeface="Georgia"/>
              </a:rPr>
              <a:t>Spotting Pace Shifts: What I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I also tried to auto-detect </a:t>
            </a:r>
            <a:r>
              <a:rPr sz="1500" b="0" i="1">
                <a:solidFill>
                  <a:srgbClr val="22303C"/>
                </a:solidFill>
                <a:latin typeface="Calibri"/>
              </a:rPr>
              <a:t>when</a:t>
            </a:r>
            <a:r>
              <a:rPr sz="1500" b="0" i="0">
                <a:solidFill>
                  <a:srgbClr val="22303C"/>
                </a:solidFill>
                <a:latin typeface="Calibri"/>
              </a:rPr>
              <a:t> your pace suddenly changes. I tested several ways. Here's how they stacked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95728"/>
            <a:ext cx="10908792" cy="512064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395728"/>
            <a:ext cx="29443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 (in plain words)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072" y="2395728"/>
            <a:ext cx="36758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it's good 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6992" y="2395728"/>
            <a:ext cx="3520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07792"/>
            <a:ext cx="1090879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907792"/>
            <a:ext cx="29443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Running tally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2" y="2907792"/>
            <a:ext cx="36758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Raises very few false alarms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992" y="2907792"/>
            <a:ext cx="3520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5307"/>
                </a:solidFill>
                <a:latin typeface="Calibri"/>
              </a:rPr>
              <a:t>Slow to notice a real change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19856"/>
            <a:ext cx="10908792" cy="512064"/>
          </a:xfrm>
          <a:prstGeom prst="rect">
            <a:avLst/>
          </a:prstGeom>
          <a:solidFill>
            <a:srgbClr val="EFEEE7"/>
          </a:solidFill>
          <a:ln w="635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419856"/>
            <a:ext cx="29443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Quick spotter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3419856"/>
            <a:ext cx="36758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Reacts fast to a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3419856"/>
            <a:ext cx="3520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5307"/>
                </a:solidFill>
                <a:latin typeface="Calibri"/>
              </a:rPr>
              <a:t>Cries wolf — too many false alarms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1090879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1" y="3931920"/>
            <a:ext cx="29443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Recent-vs-earlier 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3931920"/>
            <a:ext cx="36758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Looks at lately vs before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3931920"/>
            <a:ext cx="3520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5307"/>
                </a:solidFill>
                <a:latin typeface="Calibri"/>
              </a:rPr>
              <a:t>Needs a chunk of data first; lags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43984"/>
            <a:ext cx="10908792" cy="512064"/>
          </a:xfrm>
          <a:prstGeom prst="rect">
            <a:avLst/>
          </a:prstGeom>
          <a:solidFill>
            <a:srgbClr val="EFEEE7"/>
          </a:solidFill>
          <a:ln w="635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443984"/>
            <a:ext cx="29443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Watch-the-misses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4443984"/>
            <a:ext cx="36758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Flags when guesses go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4443984"/>
            <a:ext cx="3520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5307"/>
                </a:solidFill>
                <a:latin typeface="Calibri"/>
              </a:rPr>
              <a:t>Only as good as the guess itself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956048"/>
            <a:ext cx="1090879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4956048"/>
            <a:ext cx="294436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Combine them 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4956048"/>
            <a:ext cx="367588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303C"/>
                </a:solidFill>
                <a:latin typeface="Calibri"/>
              </a:rPr>
              <a:t>Hoped for the best of 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4956048"/>
            <a:ext cx="352043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5307"/>
                </a:solidFill>
                <a:latin typeface="Calibri"/>
              </a:rPr>
              <a:t>More complex, but no better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10908792" cy="676656"/>
          </a:xfrm>
          <a:prstGeom prst="rect">
            <a:avLst/>
          </a:prstGeom>
          <a:solidFill>
            <a:srgbClr val="F3E7CF"/>
          </a:solidFill>
          <a:ln w="12700">
            <a:solidFill>
              <a:srgbClr val="C9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596128"/>
            <a:ext cx="109728" cy="676656"/>
          </a:xfrm>
          <a:prstGeom prst="rect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96128"/>
            <a:ext cx="1042416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8A5A07"/>
                </a:solidFill>
                <a:latin typeface="Calibri"/>
              </a:rPr>
              <a:t>Bottom line:  </a:t>
            </a:r>
            <a:r>
              <a:rPr sz="1350" b="0" i="0">
                <a:solidFill>
                  <a:srgbClr val="22303C"/>
                </a:solidFill>
                <a:latin typeface="Calibri"/>
              </a:rPr>
              <a:t>none was reliably better than the simple tally — and on real, messy data the shifts were nearly impossible to catch. So I'm reporting it honestly and not shipping auto-detection yet.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Study Planner  ·  M.Tech Phase 1  ·  Second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548640"/>
            <a:ext cx="10424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A8F"/>
                </a:solidFill>
                <a:latin typeface="Calibri"/>
              </a:rPr>
              <a:t>FROM LAB TO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 i="0">
                <a:solidFill>
                  <a:srgbClr val="1B2A4A"/>
                </a:solidFill>
                <a:latin typeface="Georgia"/>
              </a:rPr>
              <a:t>Putting the Research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The better pace method isn't sitting in a notebook — it now runs inside the app, end to 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3154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3154680" cy="109728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679191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303C"/>
                </a:solidFill>
                <a:latin typeface="Georgia"/>
              </a:rPr>
              <a:t>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0954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You log a study session on your phone or laptop.</a:t>
            </a:r>
          </a:p>
        </p:txBody>
      </p:sp>
      <p:sp>
        <p:nvSpPr>
          <p:cNvPr id="11" name="Chevron 10"/>
          <p:cNvSpPr/>
          <p:nvPr/>
        </p:nvSpPr>
        <p:spPr>
          <a:xfrm>
            <a:off x="3904488" y="2999232"/>
            <a:ext cx="502920" cy="402336"/>
          </a:xfrm>
          <a:prstGeom prst="chevron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17136" y="2423160"/>
            <a:ext cx="3154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17136" y="2423160"/>
            <a:ext cx="3154680" cy="1097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3168" y="2679191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303C"/>
                </a:solidFill>
                <a:latin typeface="Georgia"/>
              </a:rPr>
              <a:t>The smart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320954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Sends it to the service that runs the new pace method.</a:t>
            </a:r>
          </a:p>
        </p:txBody>
      </p:sp>
      <p:sp>
        <p:nvSpPr>
          <p:cNvPr id="16" name="Chevron 15"/>
          <p:cNvSpPr/>
          <p:nvPr/>
        </p:nvSpPr>
        <p:spPr>
          <a:xfrm>
            <a:off x="7781544" y="2999232"/>
            <a:ext cx="502920" cy="402336"/>
          </a:xfrm>
          <a:prstGeom prst="chevron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94192" y="2423160"/>
            <a:ext cx="3154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2423160"/>
            <a:ext cx="3154680" cy="109728"/>
          </a:xfrm>
          <a:prstGeom prst="rect">
            <a:avLst/>
          </a:prstGeom>
          <a:solidFill>
            <a:srgbClr val="0A6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50224" y="2679191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303C"/>
                </a:solidFill>
                <a:latin typeface="Georgia"/>
              </a:rPr>
              <a:t>Back to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3209544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2303C"/>
                </a:solidFill>
                <a:latin typeface="Calibri"/>
              </a:rPr>
              <a:t>Returns a sharper read of your pace, used to nudge you when you're drifting behind.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7822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860B"/>
                </a:solidFill>
                <a:latin typeface="Calibri"/>
              </a:rPr>
              <a:t>Honest status:  </a:t>
            </a:r>
            <a:r>
              <a:rPr sz="1250" b="0" i="1">
                <a:solidFill>
                  <a:srgbClr val="6B7480"/>
                </a:solidFill>
                <a:latin typeface="Calibri"/>
              </a:rPr>
              <a:t>today this powers the “review your plan” nudge. Showing it as an on-screen finish date is the next step.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2303C"/>
                </a:solidFill>
                <a:latin typeface="Calibri"/>
              </a:rPr>
              <a:t>And it's built to hold up in the real world: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47488"/>
            <a:ext cx="35112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91440" cy="914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93792"/>
            <a:ext cx="30998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2303C"/>
                </a:solidFill>
                <a:latin typeface="Calibri"/>
              </a:rPr>
              <a:t>Login security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480"/>
                </a:solidFill>
                <a:latin typeface="Calibri"/>
              </a:rPr>
              <a:t>only your account can 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8828" y="5047488"/>
            <a:ext cx="35112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8828" y="5047488"/>
            <a:ext cx="91440" cy="914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4860" y="5193792"/>
            <a:ext cx="30998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2303C"/>
                </a:solidFill>
                <a:latin typeface="Calibri"/>
              </a:rPr>
              <a:t>Auto-retry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480"/>
                </a:solidFill>
                <a:latin typeface="Calibri"/>
              </a:rPr>
              <a:t>shrugs off a flaky 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37575" y="5047488"/>
            <a:ext cx="351129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7575" y="5047488"/>
            <a:ext cx="91440" cy="91440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7" y="5193792"/>
            <a:ext cx="30998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22303C"/>
                </a:solidFill>
                <a:latin typeface="Calibri"/>
              </a:rPr>
              <a:t>Works offline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B7480"/>
                </a:solidFill>
                <a:latin typeface="Calibri"/>
              </a:rPr>
              <a:t>shows your last known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Study Planner  ·  M.Tech Phase 1  ·  Second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548640"/>
            <a:ext cx="10424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A8F"/>
                </a:solidFill>
                <a:latin typeface="Calibri"/>
              </a:rPr>
              <a:t>WHERE THE APP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 i="0">
                <a:solidFill>
                  <a:srgbClr val="1B2A4A"/>
                </a:solidFill>
                <a:latin typeface="Georgia"/>
              </a:rPr>
              <a:t>The App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Most of Phase 1 is already working. A few pieces are left.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5440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5440680" cy="54864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983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Working now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3136391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7" y="30358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Sign in — email &amp; Google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5478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344728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Log past study sessions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395935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7" y="385876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Cloud sync &amp; restore on a new device</a:t>
            </a:r>
          </a:p>
        </p:txBody>
      </p:sp>
      <p:sp>
        <p:nvSpPr>
          <p:cNvPr id="16" name="Oval 15"/>
          <p:cNvSpPr/>
          <p:nvPr/>
        </p:nvSpPr>
        <p:spPr>
          <a:xfrm>
            <a:off x="932688" y="437083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7" y="427024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Plan setup wizard (builds your plan)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78231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7" y="468172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Live study sessions (incl. YouTube)</a:t>
            </a:r>
          </a:p>
        </p:txBody>
      </p:sp>
      <p:sp>
        <p:nvSpPr>
          <p:cNvPr id="20" name="Oval 19"/>
          <p:cNvSpPr/>
          <p:nvPr/>
        </p:nvSpPr>
        <p:spPr>
          <a:xfrm>
            <a:off x="932688" y="519379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7" y="509320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Pace tracking + “you're drifting” prompt</a:t>
            </a:r>
          </a:p>
        </p:txBody>
      </p:sp>
      <p:sp>
        <p:nvSpPr>
          <p:cNvPr id="22" name="Oval 21"/>
          <p:cNvSpPr/>
          <p:nvPr/>
        </p:nvSpPr>
        <p:spPr>
          <a:xfrm>
            <a:off x="932688" y="5605272"/>
            <a:ext cx="146304" cy="1463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07007" y="5504688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80" b="0" i="0">
                <a:solidFill>
                  <a:srgbClr val="22303C"/>
                </a:solidFill>
                <a:latin typeface="Calibri"/>
              </a:rPr>
              <a:t>Settings, password reset, marketing 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286000"/>
            <a:ext cx="5193792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2286000"/>
            <a:ext cx="5193792" cy="548640"/>
          </a:xfrm>
          <a:prstGeom prst="rect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286000"/>
            <a:ext cx="4736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Still to build for Phase 1</a:t>
            </a:r>
          </a:p>
        </p:txBody>
      </p:sp>
      <p:sp>
        <p:nvSpPr>
          <p:cNvPr id="27" name="Oval 26"/>
          <p:cNvSpPr/>
          <p:nvPr/>
        </p:nvSpPr>
        <p:spPr>
          <a:xfrm>
            <a:off x="6647688" y="3163824"/>
            <a:ext cx="146304" cy="146304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22008" y="3063240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Roadmap page (view your plan)   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— not started — “coming soon”</a:t>
            </a:r>
          </a:p>
        </p:txBody>
      </p:sp>
      <p:sp>
        <p:nvSpPr>
          <p:cNvPr id="29" name="Oval 28"/>
          <p:cNvSpPr/>
          <p:nvPr/>
        </p:nvSpPr>
        <p:spPr>
          <a:xfrm>
            <a:off x="6647688" y="3666744"/>
            <a:ext cx="146304" cy="146304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22008" y="3566160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Re-plan flow (adjust the plan)   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— not started</a:t>
            </a:r>
          </a:p>
        </p:txBody>
      </p:sp>
      <p:sp>
        <p:nvSpPr>
          <p:cNvPr id="31" name="Oval 30"/>
          <p:cNvSpPr/>
          <p:nvPr/>
        </p:nvSpPr>
        <p:spPr>
          <a:xfrm>
            <a:off x="6647688" y="4169663"/>
            <a:ext cx="146304" cy="146304"/>
          </a:xfrm>
          <a:prstGeom prst="ellipse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8" y="4069080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Weekly progress view   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— partly built — needs finishing</a:t>
            </a:r>
          </a:p>
        </p:txBody>
      </p:sp>
      <p:sp>
        <p:nvSpPr>
          <p:cNvPr id="33" name="Oval 32"/>
          <p:cNvSpPr/>
          <p:nvPr/>
        </p:nvSpPr>
        <p:spPr>
          <a:xfrm>
            <a:off x="6647688" y="4672583"/>
            <a:ext cx="146304" cy="146304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22008" y="4572000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Install to home screen (PWA)   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— not started</a:t>
            </a:r>
          </a:p>
        </p:txBody>
      </p:sp>
      <p:sp>
        <p:nvSpPr>
          <p:cNvPr id="35" name="Oval 34"/>
          <p:cNvSpPr/>
          <p:nvPr/>
        </p:nvSpPr>
        <p:spPr>
          <a:xfrm>
            <a:off x="6647688" y="5175503"/>
            <a:ext cx="146304" cy="146304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22008" y="5074920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Basic usage analytics   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— to confirm</a:t>
            </a:r>
          </a:p>
        </p:txBody>
      </p:sp>
      <p:sp>
        <p:nvSpPr>
          <p:cNvPr id="37" name="Oval 36"/>
          <p:cNvSpPr/>
          <p:nvPr/>
        </p:nvSpPr>
        <p:spPr>
          <a:xfrm>
            <a:off x="6647688" y="5678423"/>
            <a:ext cx="146304" cy="146304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22008" y="5577840"/>
            <a:ext cx="432511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2303C"/>
                </a:solidFill>
                <a:latin typeface="Calibri"/>
              </a:rPr>
              <a:t>Go live on real hosting   </a:t>
            </a:r>
            <a:r>
              <a:rPr sz="1150" b="0" i="1">
                <a:solidFill>
                  <a:srgbClr val="6B7480"/>
                </a:solidFill>
                <a:latin typeface="Calibri"/>
              </a:rPr>
              <a:t>— 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Study Planner  ·  M.Tech Phase 1  ·  Second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310896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0704" y="548640"/>
            <a:ext cx="10424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8A8F"/>
                </a:solidFill>
                <a:latin typeface="Calibri"/>
              </a:rPr>
              <a:t>THE PLAN FROM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300" b="0" i="0">
                <a:solidFill>
                  <a:srgbClr val="1B2A4A"/>
                </a:solidFill>
                <a:latin typeface="Georgia"/>
              </a:rPr>
              <a:t>What's Next, and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22303C"/>
                </a:solidFill>
                <a:latin typeface="Calibri"/>
              </a:rPr>
              <a:t>Three steps to the finish line — research and app, side by 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68296"/>
            <a:ext cx="10908792" cy="36576"/>
          </a:xfrm>
          <a:prstGeom prst="rect">
            <a:avLst/>
          </a:prstGeom>
          <a:solidFill>
            <a:srgbClr val="DDD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9424" y="2221992"/>
            <a:ext cx="292608" cy="292608"/>
          </a:xfrm>
          <a:prstGeom prst="ellipse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12848" y="2221992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715768"/>
            <a:ext cx="35112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15768"/>
            <a:ext cx="3511296" cy="91440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35224"/>
            <a:ext cx="3054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2303C"/>
                </a:solidFill>
                <a:latin typeface="Georgia"/>
              </a:rPr>
              <a:t>By next guidance call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85031"/>
            <a:ext cx="118872" cy="118872"/>
          </a:xfrm>
          <a:prstGeom prst="ellipse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3584448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Test the method on my own real study sessions (Phase 5)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306823"/>
            <a:ext cx="118872" cy="118872"/>
          </a:xfrm>
          <a:prstGeom prst="ellipse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206240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Finish the weekly progress view</a:t>
            </a:r>
          </a:p>
        </p:txBody>
      </p:sp>
      <p:sp>
        <p:nvSpPr>
          <p:cNvPr id="17" name="Oval 16"/>
          <p:cNvSpPr/>
          <p:nvPr/>
        </p:nvSpPr>
        <p:spPr>
          <a:xfrm>
            <a:off x="5948172" y="2221992"/>
            <a:ext cx="292608" cy="292608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1596" y="2221992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8828" y="2715768"/>
            <a:ext cx="35112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8828" y="2715768"/>
            <a:ext cx="3511296" cy="91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4860" y="2935224"/>
            <a:ext cx="3054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2303C"/>
                </a:solidFill>
                <a:latin typeface="Georgia"/>
              </a:rPr>
              <a:t>By final Phase-1 review</a:t>
            </a:r>
          </a:p>
        </p:txBody>
      </p:sp>
      <p:sp>
        <p:nvSpPr>
          <p:cNvPr id="22" name="Oval 21"/>
          <p:cNvSpPr/>
          <p:nvPr/>
        </p:nvSpPr>
        <p:spPr>
          <a:xfrm>
            <a:off x="4613148" y="3685031"/>
            <a:ext cx="118872" cy="1188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0892" y="3584448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Build the Roadmap page + re-plan flow</a:t>
            </a:r>
          </a:p>
        </p:txBody>
      </p:sp>
      <p:sp>
        <p:nvSpPr>
          <p:cNvPr id="24" name="Oval 23"/>
          <p:cNvSpPr/>
          <p:nvPr/>
        </p:nvSpPr>
        <p:spPr>
          <a:xfrm>
            <a:off x="4613148" y="4306823"/>
            <a:ext cx="118872" cy="1188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0892" y="4206240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Real numbers &amp; figures into the report (Phase 6)</a:t>
            </a:r>
          </a:p>
        </p:txBody>
      </p:sp>
      <p:sp>
        <p:nvSpPr>
          <p:cNvPr id="26" name="Oval 25"/>
          <p:cNvSpPr/>
          <p:nvPr/>
        </p:nvSpPr>
        <p:spPr>
          <a:xfrm>
            <a:off x="4613148" y="4928615"/>
            <a:ext cx="118872" cy="1188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0892" y="4828031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Write up the full comparison</a:t>
            </a:r>
          </a:p>
        </p:txBody>
      </p:sp>
      <p:sp>
        <p:nvSpPr>
          <p:cNvPr id="28" name="Oval 27"/>
          <p:cNvSpPr/>
          <p:nvPr/>
        </p:nvSpPr>
        <p:spPr>
          <a:xfrm>
            <a:off x="4613148" y="5550407"/>
            <a:ext cx="118872" cy="1188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0892" y="5449823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Add home-screen install + basic analytics</a:t>
            </a:r>
          </a:p>
        </p:txBody>
      </p:sp>
      <p:sp>
        <p:nvSpPr>
          <p:cNvPr id="30" name="Oval 29"/>
          <p:cNvSpPr/>
          <p:nvPr/>
        </p:nvSpPr>
        <p:spPr>
          <a:xfrm>
            <a:off x="9646919" y="2221992"/>
            <a:ext cx="292608" cy="292608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0344" y="2221992"/>
            <a:ext cx="365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37575" y="2715768"/>
            <a:ext cx="35112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37575" y="2715768"/>
            <a:ext cx="3511296" cy="91440"/>
          </a:xfrm>
          <a:prstGeom prst="rect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93607" y="2935224"/>
            <a:ext cx="305409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2303C"/>
                </a:solidFill>
                <a:latin typeface="Georgia"/>
              </a:rPr>
              <a:t>Later</a:t>
            </a:r>
          </a:p>
        </p:txBody>
      </p:sp>
      <p:sp>
        <p:nvSpPr>
          <p:cNvPr id="35" name="Oval 34"/>
          <p:cNvSpPr/>
          <p:nvPr/>
        </p:nvSpPr>
        <p:spPr>
          <a:xfrm>
            <a:off x="8311896" y="3685031"/>
            <a:ext cx="118872" cy="118872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3584448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Go live on real hosting</a:t>
            </a:r>
          </a:p>
        </p:txBody>
      </p:sp>
      <p:sp>
        <p:nvSpPr>
          <p:cNvPr id="37" name="Oval 36"/>
          <p:cNvSpPr/>
          <p:nvPr/>
        </p:nvSpPr>
        <p:spPr>
          <a:xfrm>
            <a:off x="8311896" y="4306823"/>
            <a:ext cx="118872" cy="118872"/>
          </a:xfrm>
          <a:prstGeom prst="ellipse">
            <a:avLst/>
          </a:prstGeom>
          <a:solidFill>
            <a:srgbClr val="9AA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206240"/>
            <a:ext cx="2761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2303C"/>
                </a:solidFill>
                <a:latin typeface="Calibri"/>
              </a:rPr>
              <a:t>Set up login security &amp; access for the live site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Study Planner  ·  M.Tech Phase 1  ·  Second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270955200000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54864" cy="6270955200000"/>
          </a:xfrm>
          <a:prstGeom prst="rect">
            <a:avLst/>
          </a:prstGeom>
          <a:solidFill>
            <a:srgbClr val="C9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868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B4C9"/>
                </a:solidFill>
                <a:latin typeface="Calibri"/>
              </a:rPr>
              <a:t>CLOSING THOUGHTS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132588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Where we 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395728"/>
            <a:ext cx="146304" cy="566928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37744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 real research win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CFD8E6"/>
                </a:solidFill>
                <a:latin typeface="Calibri"/>
              </a:rPr>
              <a:t>Pace reading is ~3× sharper and proven under tough testing.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264408"/>
            <a:ext cx="146304" cy="566928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4612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It's already in the app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CFD8E6"/>
                </a:solidFill>
                <a:latin typeface="Calibri"/>
              </a:rPr>
              <a:t>The new method runs live, end to end.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133087"/>
            <a:ext cx="146304" cy="566928"/>
          </a:xfrm>
          <a:prstGeom prst="rect">
            <a:avLst/>
          </a:prstGeom>
          <a:solidFill>
            <a:srgbClr val="0E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1148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Honest about the rest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CFD8E6"/>
                </a:solidFill>
                <a:latin typeface="Calibri"/>
              </a:rPr>
              <a:t>Auto-detecting pace shifts didn't pan out yet — and I'm saying 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5212080"/>
            <a:ext cx="10241280" cy="1005840"/>
          </a:xfrm>
          <a:prstGeom prst="rect">
            <a:avLst/>
          </a:prstGeom>
          <a:solidFill>
            <a:srgbClr val="243963"/>
          </a:solidFill>
          <a:ln w="12700">
            <a:solidFill>
              <a:srgbClr val="0E8A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97840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6FC9CE"/>
                </a:solidFill>
                <a:latin typeface="Calibri"/>
              </a:rPr>
              <a:t>What I'd like from you: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a quick okay on the two-step timeline above, and any steer on what you'd most want to see demoed at the final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