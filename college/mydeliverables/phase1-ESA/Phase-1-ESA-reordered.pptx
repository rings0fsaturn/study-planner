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9"/>
  </p:notesMasterIdLst>
  <p:handoutMasterIdLst>
    <p:handoutMasterId r:id="rId20"/>
  </p:handoutMasterIdLst>
  <p:sldIdLst>
    <p:sldId id="538" r:id="rId2"/>
    <p:sldId id="535" r:id="rId3"/>
    <p:sldId id="570" r:id="rId4"/>
    <p:sldId id="569" r:id="rId5"/>
    <p:sldId id="568" r:id="rId6"/>
    <p:sldId id="557" r:id="rId7"/>
    <p:sldId id="566" r:id="rId11"/>
    <p:sldId id="562" r:id="rId8"/>
    <p:sldId id="567" r:id="rId12"/>
    <p:sldId id="571" r:id="rId10"/>
    <p:sldId id="565" r:id="rId14"/>
    <p:sldId id="536" r:id="rId15"/>
    <p:sldId id="572" r:id="rId25"/>
    <p:sldId id="552" r:id="rId16"/>
    <p:sldId id="545" r:id="rId17"/>
    <p:sldId id="549" r:id="rId18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68" d="100"/>
          <a:sy n="68" d="100"/>
        </p:scale>
        <p:origin x="61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7.xml"/><Relationship Id="rId12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8/20/2022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47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4564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7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7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501" cy="46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oogle Shape;9;p1">
            <a:extLst>
              <a:ext uri="{FF2B5EF4-FFF2-40B4-BE49-F238E27FC236}">
                <a16:creationId xmlns:a16="http://schemas.microsoft.com/office/drawing/2014/main" id="{276CCA2D-1AAE-1044-8CB4-114CF8E3B30E}"/>
              </a:ext>
            </a:extLst>
          </p:cNvPr>
          <p:cNvGrpSpPr/>
          <p:nvPr userDrawn="1"/>
        </p:nvGrpSpPr>
        <p:grpSpPr>
          <a:xfrm>
            <a:off x="10962132" y="226826"/>
            <a:ext cx="783335" cy="276600"/>
            <a:chOff x="8283500" y="77358"/>
            <a:chExt cx="783335" cy="276600"/>
          </a:xfrm>
        </p:grpSpPr>
        <p:pic>
          <p:nvPicPr>
            <p:cNvPr id="8" name="Google Shape;10;p1">
              <a:extLst>
                <a:ext uri="{FF2B5EF4-FFF2-40B4-BE49-F238E27FC236}">
                  <a16:creationId xmlns:a16="http://schemas.microsoft.com/office/drawing/2014/main" id="{91C1E45F-BA3F-1845-BB89-13F8D2C7BB75}"/>
                </a:ext>
              </a:extLst>
            </p:cNvPr>
            <p:cNvPicPr preferRelativeResize="0"/>
            <p:nvPr/>
          </p:nvPicPr>
          <p:blipFill>
            <a:blip r:embed="rId11" cstate="print">
              <a:alphaModFix/>
            </a:blip>
            <a:stretch>
              <a:fillRect/>
            </a:stretch>
          </p:blipFill>
          <p:spPr>
            <a:xfrm>
              <a:off x="8335643" y="101458"/>
              <a:ext cx="731192" cy="2282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" name="Google Shape;11;p1">
              <a:extLst>
                <a:ext uri="{FF2B5EF4-FFF2-40B4-BE49-F238E27FC236}">
                  <a16:creationId xmlns:a16="http://schemas.microsoft.com/office/drawing/2014/main" id="{B26B9128-95DF-E547-AB29-F669AACA1B0C}"/>
                </a:ext>
              </a:extLst>
            </p:cNvPr>
            <p:cNvCxnSpPr/>
            <p:nvPr/>
          </p:nvCxnSpPr>
          <p:spPr>
            <a:xfrm>
              <a:off x="8283500" y="77358"/>
              <a:ext cx="0" cy="2766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600200"/>
            <a:ext cx="79248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rebuchet MS" pitchFamily="34" charset="0"/>
              </a:rPr>
              <a:t>UE20CS971–  Project Phase – 1</a:t>
            </a:r>
          </a:p>
          <a:p>
            <a:pPr algn="ctr"/>
            <a:r>
              <a:rPr lang="en-US" sz="4000" dirty="0">
                <a:latin typeface="Trebuchet MS" pitchFamily="34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latin typeface="Trebuchet MS" pitchFamily="34" charset="0"/>
              </a:rPr>
              <a:t>End Semester Assessment</a:t>
            </a:r>
          </a:p>
        </p:txBody>
      </p:sp>
      <p:sp>
        <p:nvSpPr>
          <p:cNvPr id="4" name="Google Shape;26;p3"/>
          <p:cNvSpPr txBox="1"/>
          <p:nvPr/>
        </p:nvSpPr>
        <p:spPr>
          <a:xfrm>
            <a:off x="1828800" y="4343401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</a:t>
            </a: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Guide :                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1676400"/>
            <a:ext cx="80772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Problem Statement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Abstract and Scope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Literature Survey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Suggestions from Review – 3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Proposed Methodology / Approach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Design Approach &amp; Constraints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Architecture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Design Description &amp; Details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Technologies Used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Project Progress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Live Demo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38380"/>
            <a:ext cx="8077200" cy="4162419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Well defined problem statement</a:t>
            </a:r>
          </a:p>
          <a:p>
            <a:pPr marL="1142991" lvl="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It should clearly specify the problem</a:t>
            </a:r>
            <a:endParaRPr lang="en-IN" sz="2400" kern="0" dirty="0"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89258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 basic introduction of the project and also an overview of scope it entails.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 and Scope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7400" y="2188868"/>
            <a:ext cx="8077200" cy="4211931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A critical assessment of the research that has been conducted on the topic.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4 – 5 recently published research papers/products.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Summarize the individual papers/products with as much detail as each deserves, depending up on its relative importance in the overall literature on the topic.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/>
          <a:lstStyle/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the suggestions and remarks given by the panel members. </a:t>
            </a: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Mention the feasibility on the same showing the progress.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Suggestions from Review - 3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7005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as many slides as required to cover the following aspects: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Basic Approach and results obtained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Is there a need for changing the approach?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Details of the new approach- benefits/drawbacks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 &amp; Constraints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2041000" y="1783080"/>
            <a:ext cx="916040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design approach followed? And Why?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Benefits of this approach &amp; are there any drawbacks?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Alternate design approaches, if any.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FF0000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FF0000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Discuss the design constraints and assumptions that you have made to select the design approach.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Discuss any dependencies that your design approach has and their impact on the project.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FF0000"/>
                </a:solidFill>
                <a:latin typeface="Trebuchet MS"/>
              </a:rPr>
              <a:t>Note: Applicable to prototype/product based project</a:t>
            </a:r>
            <a:endParaRPr lang="en-US" sz="2400" dirty="0">
              <a:solidFill>
                <a:srgbClr val="0033CC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(if applicable)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8553100" cy="37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high-level design view of the system.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the logical user groups, application components, data components, and interfacing systems. Illustrate the collaboration and interaction between the major components.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Description &amp; Details</a:t>
            </a:r>
          </a:p>
        </p:txBody>
      </p:sp>
      <p:sp>
        <p:nvSpPr>
          <p:cNvPr id="47" name="Google Shape;47;p6"/>
          <p:cNvSpPr txBox="1"/>
          <p:nvPr/>
        </p:nvSpPr>
        <p:spPr>
          <a:xfrm>
            <a:off x="1219200" y="1783080"/>
            <a:ext cx="1043940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0033CC"/>
                </a:solidFill>
                <a:latin typeface="Trebuchet MS"/>
              </a:rPr>
              <a:t>Briefly describe all the platforms, systems, and processes that it depends on and comprise any vital changes that need to be made to them. 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0033CC"/>
                </a:solidFill>
                <a:latin typeface="Trebuchet MS"/>
              </a:rPr>
              <a:t>Below are some examples but it is not an exhaustive list: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0033CC"/>
                </a:solidFill>
                <a:latin typeface="Trebuchet MS"/>
              </a:rPr>
              <a:t>Novelty, Innovativeness, Interoperability, Performance, Security, Reliability, Maintainability, Portability, Legacy to Modernization, Reusability, Application Compatibility.</a:t>
            </a: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</a:endParaRPr>
          </a:p>
          <a:p>
            <a:pPr marL="457200" algn="just">
              <a:spcBef>
                <a:spcPts val="480"/>
              </a:spcBef>
              <a:spcAft>
                <a:spcPts val="0"/>
              </a:spcAft>
            </a:pPr>
            <a:r>
              <a:rPr lang="en-US" sz="1800" dirty="0">
                <a:solidFill>
                  <a:srgbClr val="FF0000"/>
                </a:solidFill>
                <a:latin typeface="Trebuchet MS"/>
              </a:rPr>
              <a:t>Note: Applicable to Research project</a:t>
            </a:r>
            <a:endParaRPr lang="en-US" sz="2400" dirty="0">
              <a:solidFill>
                <a:srgbClr val="0033CC"/>
              </a:solidFill>
              <a:latin typeface="Trebuchet MS"/>
            </a:endParaRP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18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Add as many slides as required to cover the following aspects:</a:t>
            </a:r>
          </a:p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1800" dirty="0">
                <a:solidFill>
                  <a:srgbClr val="0033CC"/>
                </a:solidFill>
                <a:latin typeface="Trebuchet MS"/>
                <a:sym typeface="Trebuchet MS"/>
              </a:rPr>
              <a:t>Master class diagram 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1800" dirty="0">
                <a:solidFill>
                  <a:srgbClr val="0033CC"/>
                </a:solidFill>
                <a:latin typeface="Trebuchet MS"/>
                <a:sym typeface="Trebuchet MS"/>
              </a:rPr>
              <a:t>ER Diagram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1800" dirty="0">
                <a:solidFill>
                  <a:srgbClr val="0033CC"/>
                </a:solidFill>
                <a:latin typeface="Trebuchet MS"/>
                <a:sym typeface="Trebuchet MS"/>
              </a:rPr>
              <a:t>User Interface Diagrams/ Use Case Diagrams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1800" dirty="0">
                <a:solidFill>
                  <a:srgbClr val="0033CC"/>
                </a:solidFill>
                <a:latin typeface="Trebuchet MS"/>
                <a:sym typeface="Trebuchet MS"/>
              </a:rPr>
              <a:t>Report Layouts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r>
              <a:rPr lang="en-US" sz="1800" dirty="0">
                <a:solidFill>
                  <a:srgbClr val="0033CC"/>
                </a:solidFill>
                <a:latin typeface="Trebuchet MS"/>
                <a:sym typeface="Trebuchet MS"/>
              </a:rPr>
              <a:t>External Interfaces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07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Technologies Used</a:t>
            </a:r>
            <a:endParaRPr lang="en-US" sz="2400" dirty="0"/>
          </a:p>
        </p:txBody>
      </p:sp>
      <p:sp>
        <p:nvSpPr>
          <p:cNvPr id="70" name="Google Shape;70;p9"/>
          <p:cNvSpPr txBox="1"/>
          <p:nvPr/>
        </p:nvSpPr>
        <p:spPr>
          <a:xfrm>
            <a:off x="2057400" y="1828800"/>
            <a:ext cx="68637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technologies you plan to use? and why?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981200" y="1752600"/>
            <a:ext cx="8229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project progress so far?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percentage completion of the project?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Google Shape;68;p9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</a:t>
            </a:r>
            <a:endParaRPr lang="en-US" sz="2400" dirty="0"/>
          </a:p>
        </p:txBody>
      </p:sp>
      <p:sp>
        <p:nvSpPr>
          <p:cNvPr id="70" name="Google Shape;70;p9"/>
          <p:cNvSpPr txBox="1"/>
          <p:nvPr/>
        </p:nvSpPr>
        <p:spPr>
          <a:xfrm>
            <a:off x="2057400" y="1828800"/>
            <a:ext cx="68637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Live walkthrough of the working prototype (Study Tracker web app).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Flow: Onboarding → generated roadmap → study-session logging → progress &amp; calibration.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Show where the research / intelligence tier feeds the product.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Note: keep to ~3–4 min; have a fallback recording ready.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28800" y="1828800"/>
            <a:ext cx="8458200" cy="4724400"/>
          </a:xfrm>
          <a:prstGeom prst="rect">
            <a:avLst/>
          </a:prstGeom>
        </p:spPr>
        <p:txBody>
          <a:bodyPr/>
          <a:lstStyle/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12700" algn="just" eaLnBrk="0" hangingPunct="0">
              <a:spcBef>
                <a:spcPct val="20000"/>
              </a:spcBef>
              <a:defRPr/>
            </a:pPr>
            <a:r>
              <a:rPr lang="en-IN" sz="2400" dirty="0">
                <a:solidFill>
                  <a:srgbClr val="0000FF"/>
                </a:solidFill>
                <a:latin typeface="Trebuchet MS" pitchFamily="34" charset="0"/>
              </a:rPr>
              <a:t>Provide references pertaining to your research according to IEEE format.</a:t>
            </a: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IN" sz="2000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358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Any 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2133601" y="1905001"/>
            <a:ext cx="8839199" cy="216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Provide any other information you wish to add on.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 </a:t>
            </a:r>
          </a:p>
          <a:p>
            <a:pPr marL="342891" indent="12700" algn="just" eaLnBrk="0" hangingPunct="0">
              <a:spcBef>
                <a:spcPct val="20000"/>
              </a:spcBef>
              <a:defRPr/>
            </a:pPr>
            <a:endParaRPr lang="en-IN" sz="24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891" indent="12700" algn="just" eaLnBrk="0" hangingPunct="0">
              <a:spcBef>
                <a:spcPct val="20000"/>
              </a:spcBef>
              <a:defRPr/>
            </a:pPr>
            <a:r>
              <a:rPr lang="en-IN" sz="2400" kern="0" dirty="0">
                <a:solidFill>
                  <a:srgbClr val="0000FF"/>
                </a:solidFill>
                <a:latin typeface="Trebuchet MS" pitchFamily="34" charset="0"/>
              </a:rPr>
              <a:t>Note: Changes can be made in the template, with the consent of the guide for inclusion of any other information.</a:t>
            </a:r>
            <a:endParaRPr lang="en-IN" sz="2400" kern="0" dirty="0"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80</TotalTime>
  <Words>520</Words>
  <Application>Microsoft Office PowerPoint</Application>
  <PresentationFormat>Widescreen</PresentationFormat>
  <Paragraphs>94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Sudha B G</cp:lastModifiedBy>
  <cp:revision>11</cp:revision>
  <dcterms:created xsi:type="dcterms:W3CDTF">2020-11-22T08:14:37Z</dcterms:created>
  <dcterms:modified xsi:type="dcterms:W3CDTF">2022-08-20T04:54:02Z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