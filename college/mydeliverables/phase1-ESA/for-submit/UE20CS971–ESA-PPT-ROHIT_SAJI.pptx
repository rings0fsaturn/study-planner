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538" r:id="rId2"/>
    <p:sldId id="535" r:id="rId3"/>
    <p:sldId id="570" r:id="rId4"/>
    <p:sldId id="569" r:id="rId5"/>
    <p:sldId id="568" r:id="rId6"/>
    <p:sldId id="557" r:id="rId7"/>
    <p:sldId id="566" r:id="rId11"/>
    <p:sldId id="562" r:id="rId8"/>
    <p:sldId id="567" r:id="rId12"/>
    <p:sldId id="571" r:id="rId10"/>
    <p:sldId id="565" r:id="rId14"/>
    <p:sldId id="536" r:id="rId15"/>
    <p:sldId id="572" r:id="rId25"/>
    <p:sldId id="552" r:id="rId16"/>
    <p:sldId id="545" r:id="rId17"/>
    <p:sldId id="549" r:id="rId18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68" d="100"/>
          <a:sy n="68" d="100"/>
        </p:scale>
        <p:origin x="61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47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4564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7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7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501" cy="46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oogle Shape;9;p1">
            <a:extLst>
              <a:ext uri="{FF2B5EF4-FFF2-40B4-BE49-F238E27FC236}">
                <a16:creationId xmlns:a16="http://schemas.microsoft.com/office/drawing/2014/main" id="{276CCA2D-1AAE-1044-8CB4-114CF8E3B30E}"/>
              </a:ext>
            </a:extLst>
          </p:cNvPr>
          <p:cNvGrpSpPr/>
          <p:nvPr userDrawn="1"/>
        </p:nvGrpSpPr>
        <p:grpSpPr>
          <a:xfrm>
            <a:off x="10962132" y="226826"/>
            <a:ext cx="783335" cy="276600"/>
            <a:chOff x="8283500" y="77358"/>
            <a:chExt cx="783335" cy="276600"/>
          </a:xfrm>
        </p:grpSpPr>
        <p:pic>
          <p:nvPicPr>
            <p:cNvPr id="8" name="Google Shape;10;p1">
              <a:extLst>
                <a:ext uri="{FF2B5EF4-FFF2-40B4-BE49-F238E27FC236}">
                  <a16:creationId xmlns:a16="http://schemas.microsoft.com/office/drawing/2014/main" id="{91C1E45F-BA3F-1845-BB89-13F8D2C7BB75}"/>
                </a:ext>
              </a:extLst>
            </p:cNvPr>
            <p:cNvPicPr preferRelativeResize="0"/>
            <p:nvPr/>
          </p:nvPicPr>
          <p:blipFill>
            <a:blip r:embed="rId11" cstate="print">
              <a:alphaModFix/>
            </a:blip>
            <a:stretch>
              <a:fillRect/>
            </a:stretch>
          </p:blipFill>
          <p:spPr>
            <a:xfrm>
              <a:off x="8335643" y="101458"/>
              <a:ext cx="731192" cy="2282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" name="Google Shape;11;p1">
              <a:extLst>
                <a:ext uri="{FF2B5EF4-FFF2-40B4-BE49-F238E27FC236}">
                  <a16:creationId xmlns:a16="http://schemas.microsoft.com/office/drawing/2014/main" id="{B26B9128-95DF-E547-AB29-F669AACA1B0C}"/>
                </a:ext>
              </a:extLst>
            </p:cNvPr>
            <p:cNvCxnSpPr/>
            <p:nvPr/>
          </p:nvCxnSpPr>
          <p:spPr>
            <a:xfrm>
              <a:off x="8283500" y="77358"/>
              <a:ext cx="0" cy="2766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600200"/>
            <a:ext cx="7924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rebuchet MS" pitchFamily="34" charset="0"/>
              </a:rPr>
              <a:t>UE20CS971–  Project Phase – 1</a:t>
            </a:r>
          </a:p>
          <a:p>
            <a:pPr algn="ctr"/>
            <a:r>
              <a:rPr lang="en-US" sz="4000" dirty="0">
                <a:latin typeface="Trebuchet MS" pitchFamily="34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rebuchet MS" pitchFamily="34" charset="0"/>
              </a:rPr>
              <a:t>End Semester Assessment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828800" y="4343401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Trebuchet MS"/>
              </a:rPr>
              <a:t>Project Title : </a:t>
            </a:r>
            <a:r>
              <a:rPr sz="1800" b="0">
                <a:solidFill>
                  <a:srgbClr val="1F3864"/>
                </a:solidFill>
                <a:latin typeface="Trebuchet MS"/>
              </a:rPr>
              <a:t>Adaptive Study Planning for Self-Directed Learners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Trebuchet MS"/>
              </a:rPr>
              <a:t>Presented by : </a:t>
            </a:r>
            <a:r>
              <a:rPr sz="1800" b="0">
                <a:solidFill>
                  <a:srgbClr val="1F3864"/>
                </a:solidFill>
                <a:latin typeface="Trebuchet MS"/>
              </a:rPr>
              <a:t>Rohit Saji  (PES2PGE24DS201)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Trebuchet MS"/>
              </a:rPr>
              <a:t>Project Guide : </a:t>
            </a:r>
            <a:r>
              <a:rPr sz="1800" b="0">
                <a:solidFill>
                  <a:srgbClr val="1F3864"/>
                </a:solidFill>
                <a:latin typeface="Trebuchet MS"/>
              </a:rPr>
              <a:t>Prof. Ramesh Prakash Guledgudd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F3864"/>
                </a:solidFill>
                <a:latin typeface="Trebuchet MS"/>
              </a:rPr>
              <a:t>Program : </a:t>
            </a:r>
            <a:r>
              <a:rPr sz="1800" b="0">
                <a:solidFill>
                  <a:srgbClr val="1F3864"/>
                </a:solidFill>
                <a:latin typeface="Trebuchet MS"/>
              </a:rPr>
              <a:t>M.Tech in Data Science &amp; AI,  PES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1676400"/>
            <a:ext cx="8077200" cy="4724400"/>
          </a:xfrm>
          <a:prstGeom prst="rect">
            <a:avLst/>
          </a:prstGeom>
        </p:spPr>
        <p:txBody>
          <a:bodyPr wrap="square"/>
          <a:lstStyle/>
          <a:p>
            <a:pPr marL="685791" indent="-342900" algn="l" eaLnBrk="0" hangingPunct="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/>
            </a:pPr>
            <a:r>
              <a:rPr sz="1600" b="1">
                <a:solidFill>
                  <a:srgbClr val="1F3864"/>
                </a:solidFill>
                <a:latin typeface="Trebuchet MS"/>
              </a:rPr>
              <a:t>03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Problem Statement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04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Abstract &amp; Scope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05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Literature Survey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06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Suggestions from Review-3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07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Proposed Methodology / Approach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08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Design Approach &amp; Constraints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09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Architecture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10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Design Description &amp; Details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11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Technologies Used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12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Project Progress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13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Live Demo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14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References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Trebuchet MS"/>
              </a:rPr>
              <a:t>15   </a:t>
            </a:r>
            <a:r>
              <a:rPr sz="1600" b="0">
                <a:solidFill>
                  <a:srgbClr val="1F3864"/>
                </a:solidFill>
                <a:latin typeface="Trebuchet MS"/>
              </a:rPr>
              <a:t>Any Other Information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 wrap="square"/>
          <a:lstStyle/>
          <a:p>
            <a:pPr marL="342891" indent="12700" algn="l" eaLnBrk="0" hangingPunct="0">
              <a:spcBef>
                <a:spcPts val="0"/>
              </a:spcBef>
              <a:spcAft>
                <a:spcPts val="800"/>
              </a:spcAft>
              <a:defRPr/>
            </a:pPr>
            <a:r>
              <a:rPr sz="1400" b="0">
                <a:solidFill>
                  <a:srgbClr val="1F3864"/>
                </a:solidFill>
                <a:latin typeface="Trebuchet MS"/>
              </a:rPr>
              <a:t>Self-directed learners commit to a fixed plan — “two hours a day, finish by the 30th” — then reality drifts within days, and the plan never adjusts.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Who &amp; where it hurts.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Online-course, exam-prep and self-study learners with no instructor to set the pace. Time-trackers only record; static planners never revise — neither learns the pace you actually achieve.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Why it bites.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The finish date silently goes stale while the plan still shows it as valid, so the learner has no trustworthy signal of how far off-track they are.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What makes it hard.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Evidence is sparse (a few sessions before the first replan) and pace is non-stationary — the method must work from little data and tell a real shift from noise.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The gap we close.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A planner that treats the learner’s own logged behaviour as evidence, updates its pace estimate as evidence arrives, and regenerates the plan.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89258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 wrap="square"/>
          <a:lstStyle/>
          <a:p>
            <a:pPr marL="342891" indent="12700" algn="l" eaLnBrk="0" hangingPunct="0">
              <a:spcBef>
                <a:spcPts val="0"/>
              </a:spcBef>
              <a:spcAft>
                <a:spcPts val="900"/>
              </a:spcAft>
              <a:buFont typeface="Wingdings" pitchFamily="2" charset="2"/>
              <a:defRPr/>
            </a:pPr>
            <a:r>
              <a:rPr sz="1500" b="0">
                <a:solidFill>
                  <a:srgbClr val="1F3864"/>
                </a:solidFill>
                <a:latin typeface="Trebuchet MS"/>
              </a:rPr>
              <a:t>An adaptive study-planning system for a single self-directed learner — plus an honest evaluation of the algorithms behind 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In scope (Phase-1).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The open-loop adaptive planner — pace calibration, change detection, completion projection, and capacity-based replanning — realised in a working, local-first web app.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Rigorously evaluated.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Every component compared offline against established baselines on synthetic data with known ground truth: held-out archetypes, bootstrap confidence intervals, and Holm/Benjamini–Hochberg correction.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Out of scope (for now).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Closing the loop with verified learning, longitudinal real-data validation, and multi-user / institutional settings — these are Phase-2 and beyond.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 wrap="square"/>
          <a:lstStyle/>
          <a:p>
            <a:pPr marL="685791" indent="-342900" algn="l" eaLnBrk="0" hangingPunct="0">
              <a:spcBef>
                <a:spcPts val="0"/>
              </a:spcBef>
              <a:spcAft>
                <a:spcPts val="500"/>
              </a:spcAft>
              <a:buFont typeface="Wingdings" pitchFamily="2" charset="2"/>
              <a:defRPr/>
            </a:pPr>
            <a:r>
              <a:rPr sz="1250" b="1">
                <a:solidFill>
                  <a:srgbClr val="1F3864"/>
                </a:solidFill>
                <a:latin typeface="Trebuchet MS"/>
              </a:rPr>
              <a:t>Bayesian calibration — </a:t>
            </a:r>
            <a:r>
              <a:rPr sz="1250" b="0">
                <a:solidFill>
                  <a:srgbClr val="1F3864"/>
                </a:solidFill>
                <a:latin typeface="Trebuchet MS"/>
              </a:rPr>
              <a:t>Chen 2024, Zanellati 2024, Zambrano 2024, Mai 2025.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3864"/>
                </a:solidFill>
                <a:latin typeface="Trebuchet MS"/>
              </a:rPr>
              <a:t>Gap: measures correctness, not planned-vs-actual pace.  We use: a hierarchical Bayesian pace estimate with a context-aware shrinkage extension for the low-data stage.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Trebuchet MS"/>
              </a:rPr>
              <a:t>Change-point detection — </a:t>
            </a:r>
            <a:r>
              <a:rPr sz="1250" b="0">
                <a:solidFill>
                  <a:srgbClr val="1F3864"/>
                </a:solidFill>
                <a:latin typeface="Trebuchet MS"/>
              </a:rPr>
              <a:t>Saqr 2026, Qiao 2026, Boca de Giuli 2024, Cheng 2024.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3864"/>
                </a:solidFill>
                <a:latin typeface="Trebuchet MS"/>
              </a:rPr>
              <a:t>Gap: detects a shift but prescribes no action.  We use: CUSUM flags a genuine shift, which prompts the learner to replan.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Trebuchet MS"/>
              </a:rPr>
              <a:t>Gaussian-process projection — </a:t>
            </a:r>
            <a:r>
              <a:rPr sz="1250" b="0">
                <a:solidFill>
                  <a:srgbClr val="1F3864"/>
                </a:solidFill>
                <a:latin typeface="Trebuchet MS"/>
              </a:rPr>
              <a:t>Pérez-Suay 2024, Chen &amp; Yao 2025, Lin 2024, Huang &amp; Wang 2025, Kayande &amp; Kukreja 2025.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3864"/>
                </a:solidFill>
                <a:latin typeface="Trebuchet MS"/>
              </a:rPr>
              <a:t>Gap: predicts a single outcome, not a longitudinal burn-up.  We use: a GP burn-up with a confidence band and a finish-date range.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Trebuchet MS"/>
              </a:rPr>
              <a:t>Adaptive scheduling (base paper) — </a:t>
            </a:r>
            <a:r>
              <a:rPr sz="1250" b="0">
                <a:solidFill>
                  <a:srgbClr val="1F3864"/>
                </a:solidFill>
                <a:latin typeface="Trebuchet MS"/>
              </a:rPr>
              <a:t>Islam 2024, Fabregar &amp; Amorado 2025, Pagano 2026, Liu 2025.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3864"/>
                </a:solidFill>
                <a:latin typeface="Trebuchet MS"/>
              </a:rPr>
              <a:t>Gap: the plan is solved once, with no feedback from realised pace.  We use: we extend predict-then-optimize into a loop with capacity-based booking.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Trebuchet MS"/>
              </a:rPr>
              <a:t>SRL analytics — </a:t>
            </a:r>
            <a:r>
              <a:rPr sz="1250" b="0">
                <a:solidFill>
                  <a:srgbClr val="1F3864"/>
                </a:solidFill>
                <a:latin typeface="Trebuchet MS"/>
              </a:rPr>
              <a:t>Alhazbi 2024, de Barba 2025, Uzun 2025, Butt 2025.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3864"/>
                </a:solidFill>
                <a:latin typeface="Trebuchet MS"/>
              </a:rPr>
              <a:t>Gap: measures behaviour but never feeds it back.  We use: dashboards report adherence, streaks and burn-up, and feed replanning.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F3864"/>
                </a:solidFill>
                <a:latin typeface="Trebuchet MS"/>
              </a:rPr>
              <a:t>Each technique is strong in isolation; none closes the loop from realised pace back to the plan — that loop is our contribution.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 wrap="square"/>
          <a:lstStyle/>
          <a:p>
            <a:pPr marL="342891" indent="12700" algn="l" eaLnBrk="0" hangingPunct="0">
              <a:spcBef>
                <a:spcPts val="0"/>
              </a:spcBef>
              <a:spcAft>
                <a:spcPts val="800"/>
              </a:spcAft>
              <a:buFont typeface="Wingdings" pitchFamily="2" charset="2"/>
              <a:defRPr/>
            </a:pPr>
            <a:r>
              <a:rPr sz="1400" b="1">
                <a:solidFill>
                  <a:srgbClr val="1F3864"/>
                </a:solidFill>
                <a:latin typeface="Trebuchet MS"/>
              </a:rPr>
              <a:t>From my guide (Review-3):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explore LLM-guided practice sessions — a live LLM that watches the learner’s work in a practice/test session (e.g. their code) and guides: nudges when stuck, suggests improvements, but never completes it. Scoped as a Phase-2 exploration.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Self-initiated since Review-3: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Redesigned the scheduler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retired the brittle day-by-day packer for a capacity-based booking model, re-validating calibration, detection and projection on the new regime (Ch 4.4).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Made the evaluation defensible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held-out learner archetypes, bootstrap CIs, Holm/BH correction, and honest reporting of nulls (Ch 4.3, 6).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Grounded the synthetic data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the generator is calibrated against the OULAD public dataset so the regime resembles real behaviour (Ch 5.2).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- 3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7005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</a:pPr>
            <a:r>
              <a:rPr sz="1350" b="1">
                <a:solidFill>
                  <a:srgbClr val="1F3864"/>
                </a:solidFill>
                <a:latin typeface="Trebuchet MS"/>
              </a:rPr>
              <a:t>The adaptive loop: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logged sessions → pace calibration (hierarchical Bayesian + context shrinkage) → change detection (CUSUM) → progress projection (Gaussian process + cold-start) → capacity replanning (booking model).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Every model was chosen by offline comparison, not by assumption.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Real win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the context-shrinkage calibrator beats the Bayesian incumbent on prospective, short-history pace (the low-data regime the planner depends on); Holm-surviving.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Honest null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no exotic detector beats the CUSUM frontier, so we ship CUSUM (the fastest) because detection only raises a human-confirmed prompt.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Validated, not yet shipped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a split-conformal correction restores the GP interval’s coverage (the raw GP under-covers); shipped in Phase-2.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Method: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per-component metrics, bootstrap CIs, Holm/Benjamini–Hochberg correction, an oracle ceiling. A DP scheduler won on deadline drift but was retired with the day-by-day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 &amp; Constraints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2041000" y="1783080"/>
            <a:ext cx="91604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Key decisions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Local-first &amp; event-sourced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every action is an immutable event in the browser (IndexedDB); every view is derived by replaying the log. Offline-capable, with per-user data isolation.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Split compute by need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model-fitting over accumulated history runs in a Python service (Bayesian + shrinkage calibration, CUSUM); views derived from the local log run in the browser (GP projection, booking, dashboards).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One behaviour, two implementations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the TypeScript client engine is mirrored by a Python engine, kept aligned by a golden-fixture parity harness, so the evaluated code is the shipped code.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Constraints &amp; dependencies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single learner, commodity CPU-only hardware, sparse data; every service call is token-verified. Supabase is the data hub; an offline research pipeline supplies the selected models and is not in the request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</a:pPr>
            <a:r>
              <a:rPr sz="1300" b="0">
                <a:solidFill>
                  <a:srgbClr val="1F3864"/>
                </a:solidFill>
                <a:latin typeface="Trebuchet MS"/>
              </a:rPr>
              <a:t>The delivered system in three tiers: a local-first React client, a Python intelligence service that fits the statistical models, and Supabase as the data hub. The offline research tier supplies the selected models and is not in the request path.</a:t>
            </a:r>
          </a:p>
        </p:txBody>
      </p:sp>
      <p:pic>
        <p:nvPicPr>
          <p:cNvPr id="55" name="Picture 54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514600"/>
            <a:ext cx="6035040" cy="3921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 &amp; Details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1219200" y="1783080"/>
            <a:ext cx="10439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Key sequence (log → calibrate → replan):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session logged → append-only event log (IndexedDB) → POST /v1/calibration (token-verified) → Bayesian + shrinkage pace &amp; CUSUM → GP burn-up re-projected in the browser → a divergence raises a recalibration prompt → the learner replans and the plan re-books.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Event-sourced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nothing mutable is stored; Home, Week, Roadmap and the projection are all derived by replaying ~18 event kinds.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Server fits models; browser derives views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model-fitting is the only computation that crosses the wire.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The four core screens (shown live in the demo):</a:t>
            </a:r>
          </a:p>
        </p:txBody>
      </p:sp>
      <p:pic>
        <p:nvPicPr>
          <p:cNvPr id="48" name="Picture 47" descr="slide10_mon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4160520"/>
            <a:ext cx="7772400" cy="252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7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Technologies Used</a:t>
            </a:r>
            <a:endParaRPr lang="en-US" sz="2400" dirty="0"/>
          </a:p>
        </p:txBody>
      </p:sp>
      <p:sp>
        <p:nvSpPr>
          <p:cNvPr id="70" name="Google Shape;70;p9"/>
          <p:cNvSpPr txBox="1"/>
          <p:nvPr/>
        </p:nvSpPr>
        <p:spPr>
          <a:xfrm>
            <a:off x="2057400" y="1828800"/>
            <a:ext cx="859536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Frontend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React 19, Vite, TypeScript, Dexie / IndexedDB, date-fns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Intelligence service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FastAPI, Python 3.12, NumPy / SciPy, PyJWT, Docker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Data &amp; platform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Supabase (auth, Postgres, storage), Vercel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Research pipeline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uv workspace, NumPy, an offline comparison harness that imports the shipped engines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Testing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Vitest, fast-check, Playwright, pytest, ruff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Monorepo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pnpm + uv, one repository with two workspaces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Trebuchet MS"/>
              </a:rPr>
              <a:t>Why this stack — </a:t>
            </a:r>
            <a:r>
              <a:rPr sz="1400" b="0">
                <a:solidFill>
                  <a:srgbClr val="1F3864"/>
                </a:solidFill>
                <a:latin typeface="Trebuchet MS"/>
              </a:rPr>
              <a:t>local-first for an offline-capable core loop; a thin Python service only where a model must fit accumulated history; one repo so the evaluated code is the shipped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81200" y="1752600"/>
            <a:ext cx="8229600" cy="4724400"/>
          </a:xfrm>
          <a:prstGeom prst="rect">
            <a:avLst/>
          </a:prstGeom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Phase-1 status — essentially complete (~92%).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F3864"/>
                </a:solidFill>
                <a:latin typeface="Trebuchet MS"/>
              </a:rPr>
              <a:t>Report / dissertation: 100%      ·      Product web app: 90%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F3864"/>
                </a:solidFill>
                <a:latin typeface="Trebuchet MS"/>
              </a:rPr>
              <a:t>Intelligence engines (TS + Py): 90%      ·      Research &amp; evaluation: 90%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Done: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literature survey, engines + intelligence service, and the offline evaluation.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You are here: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Phase-1 ESA (Jul 2026).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Path to Phase-2: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Phase-2 starts Aug 1, 2026; Phase-2 ESA between Sep 20 and Oct 25,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Google Shape;68;p9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lang="en-US" sz="2400" dirty="0"/>
          </a:p>
        </p:txBody>
      </p:sp>
      <p:sp>
        <p:nvSpPr>
          <p:cNvPr id="70" name="Google Shape;70;p9"/>
          <p:cNvSpPr txBox="1"/>
          <p:nvPr/>
        </p:nvSpPr>
        <p:spPr>
          <a:xfrm>
            <a:off x="2057400" y="1828800"/>
            <a:ext cx="859536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Live walkthrough of the working app — the full adaptive loop: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1   Onboarding —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a full roadmap is generated from a deadline, weekly hours and materials.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2   Roadmap calendar —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the whole plan as bookings, with capacity warnings and replan levers.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3   Study session —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Pomodoro timer + player, logged to the local-first event store.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Trebuchet MS"/>
              </a:rPr>
              <a:t>4   Progress + calibration — </a:t>
            </a:r>
            <a:r>
              <a:rPr sz="1500" b="0">
                <a:solidFill>
                  <a:srgbClr val="1F3864"/>
                </a:solidFill>
                <a:latin typeface="Trebuchet MS"/>
              </a:rPr>
              <a:t>the burn-up and finish date re-project right after that session.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F3864"/>
                </a:solidFill>
                <a:latin typeface="Trebuchet MS"/>
              </a:rPr>
              <a:t>~6 minutes · seeded demo account.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800"/>
            <a:ext cx="8458200" cy="4724400"/>
          </a:xfrm>
          <a:prstGeom prst="rect">
            <a:avLst/>
          </a:prstGeom>
        </p:spPr>
        <p:txBody>
          <a:bodyPr wrap="square"/>
          <a:lstStyle/>
          <a:p>
            <a:pPr marL="342900" indent="12700" algn="l" eaLnBrk="0" hangingPunct="0">
              <a:spcBef>
                <a:spcPts val="0"/>
              </a:spcBef>
              <a:spcAft>
                <a:spcPts val="400"/>
              </a:spcAft>
              <a:defRPr/>
            </a:pPr>
            <a:r>
              <a:rPr sz="1200" b="0">
                <a:solidFill>
                  <a:srgbClr val="1F3864"/>
                </a:solidFill>
                <a:latin typeface="Trebuchet MS"/>
              </a:rPr>
              <a:t>[1] M. Islam et al., “Predicting Student Performance and Optimizing Study Schedule using Deep Learning and Dynamic Programming,” ICCIT, IEEE, 2024.  (base paper)</a:t>
            </a: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[2] Chen et al., “A Hierarchical Bayesian Model of Adaptive Teaching,” Cognitive Science, 2024.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[3] A. Zanellati et al., “Hybrid Models for Knowledge Tracing: A Systematic Review,” IEEE TLT, 2024.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[4] M. Saqr et al., “Early Warning Signals Before Dropping Out: Critical Slowing Down,” LAK, ACM, 2026.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[5] Qiao et al., “ML Approaches for Statistical Process Control: A Systematic Review,” Entropy, 2026.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[6] A. Pérez-Suay et al., “Predicting Student Performance from Moodle Logs with Gaussian Processes,” IEEE-RITA, 2024.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[7] Lin et al., “Scaling Gaussian Processes for Learning-Curve Prediction,” arXiv, 2024.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[8] Fabregar &amp; Amorado, “A Study Plan Recommender Based on a Greedy Algorithm,” EECSI, IEEE, 2025.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[9] Pagano et al., “Efficiency of Adaptive Learning Paths,” Interactive Tech. &amp; Smart Education, 2026.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[10] S. Alhazbi et al., “Using Learning Analytics to Measure Self-Regulated Learning,” JCAL, 2024.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Trebuchet MS"/>
              </a:rPr>
              <a:t>[11] P. G. de Barba et al., “A Learning Analytics Rubric for Self-Regulated Learning,” ETR&amp;D, 2025.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rebuchet MS"/>
              </a:rPr>
              <a:t>Full bibliography (21 references) in the dissertation.</a:t>
            </a:r>
          </a:p>
        </p:txBody>
      </p:sp>
    </p:spTree>
    <p:extLst>
      <p:ext uri="{BB962C8B-B14F-4D97-AF65-F5344CB8AC3E}">
        <p14:creationId xmlns:p14="http://schemas.microsoft.com/office/powerpoint/2010/main" val="3902358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9326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12700" algn="l" eaLnBrk="0" hangingPunct="0">
              <a:spcBef>
                <a:spcPts val="0"/>
              </a:spcBef>
              <a:spcAft>
                <a:spcPts val="600"/>
              </a:spcAft>
              <a:defRPr/>
            </a:pPr>
            <a:r>
              <a:rPr sz="1350" b="1">
                <a:solidFill>
                  <a:srgbClr val="1F3864"/>
                </a:solidFill>
                <a:latin typeface="Trebuchet MS"/>
              </a:rPr>
              <a:t>Phase-2 outlook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Verified learning (principal novelty)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generate concept-tagged assessments from the learner’s own material with an LLM, estimate genuine mastery with cold-start knowledge tracing, and feed verified mastery back into pace calibration — replacing gameable self-reported time. This closes the loop.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LLM-guided practice sessions (guide-suggested)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live, Socratic in-session coaching that watches the learner’s work and nudges, but never completes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Ship the validated refinement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the split-conformal correction for the GP interval’s under-coverage.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Longitudinal validation —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adaptive vs static on a real learner’s own logged sessions (schedule adherence and measured learning gain).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3864"/>
                </a:solidFill>
                <a:latin typeface="Trebuchet MS"/>
              </a:rPr>
              <a:t>Timeline: </a:t>
            </a:r>
            <a:r>
              <a:rPr sz="1350" b="0">
                <a:solidFill>
                  <a:srgbClr val="1F3864"/>
                </a:solidFill>
                <a:latin typeface="Trebuchet MS"/>
              </a:rPr>
              <a:t>Phase-2 starts Aug 1; build Aug–Sep; Phase-2 ESA Sep 20–Oct 25,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80</TotalTime>
  <Words>520</Words>
  <Application>Microsoft Office PowerPoint</Application>
  <PresentationFormat>Widescreen</PresentationFormat>
  <Paragraphs>94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Sudha B G</cp:lastModifiedBy>
  <cp:revision>11</cp:revision>
  <dcterms:created xsi:type="dcterms:W3CDTF">2020-11-22T08:14:37Z</dcterms:created>
  <dcterms:modified xsi:type="dcterms:W3CDTF">2022-08-20T04:54:02Z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