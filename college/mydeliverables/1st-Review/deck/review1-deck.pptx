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   ·   PHASE I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for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Learners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5420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verified, closed-loop adaptive study planner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Saji</a:t>
            </a:r>
            <a:pPr indent="0" marL="0">
              <a:buNone/>
            </a:pPr>
            <a:r>
              <a:rPr lang="en-US" sz="1400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PES2PGE24DS201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758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in Data Science and Artificial Intelligence   ·   PES University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968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Ramesh Prakash Guledgudd</a:t>
            </a:r>
            <a:pPr indent="0" marL="0">
              <a:buNone/>
            </a:pPr>
            <a:r>
              <a:rPr lang="en-US" sz="1250" dirty="0">
                <a:solidFill>
                  <a:srgbClr val="D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7 June 2026</a:t>
            </a:r>
            <a:endParaRPr lang="en-US" sz="1250" dirty="0"/>
          </a:p>
        </p:txBody>
      </p:sp>
      <p:pic>
        <p:nvPicPr>
          <p:cNvPr id="8" name="Image 0" descr="/Users/rsaji/projects/1/college-mtech/study-planner-web/college/mydeliverables/1st-Review/report/pe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building, and the problem it kills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First Review (Phase I)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39776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93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56816"/>
            <a:ext cx="35204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learners build fixed study plans that diverge from reality within days — they fall behind or surge ahead, and the plan never adapts.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Worse, self-reported study time has no ground truth: logged hours may produce no real learning.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444752"/>
            <a:ext cx="3977640" cy="2286000"/>
          </a:xfrm>
          <a:prstGeom prst="roundRect">
            <a:avLst>
              <a:gd name="adj" fmla="val 24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093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56816"/>
            <a:ext cx="35204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closed-loop planner that learns each learner's true pace from assessment-verified sessions, detects behavioural shifts, projects completion with calibrated uncertainty, and regenerates the schedule — beating a static planner on adherence and genuine learning gains.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13632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2E4C6"/>
          </a:solidFill>
          <a:ln w="12700">
            <a:solidFill>
              <a:srgbClr val="C997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13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pace </a:t>
            </a:r>
            <a:pPr algn="ctr" indent="0" marL="0">
              <a:buNone/>
            </a:pPr>
            <a:r>
              <a:rPr lang="en-US" sz="130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detect shift  →  project completion  →  regenerate schedule  </a:t>
            </a:r>
            <a:pPr algn="ctr" indent="0" marL="0">
              <a:buNone/>
            </a:pPr>
            <a:r>
              <a:rPr lang="en-US" sz="13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verified by assessment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Guidance Call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adaptive engine to two interlocking pillars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First Review (Phase I)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directive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“how do you stop users passing false session data?” — reshaped the project into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co-equal research pillars.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39776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10512"/>
            <a:ext cx="73152" cy="1828800"/>
          </a:xfrm>
          <a:prstGeom prst="rect">
            <a:avLst/>
          </a:prstGeom>
          <a:solidFill>
            <a:srgbClr val="3D706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568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A — Adaptation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223113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 ·  research resolved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487168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calibration — hierarchical Bayesian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detection — CUSUM change-point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— Gaussian process (uncertainty)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— constraint-based generation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810512"/>
            <a:ext cx="3977640" cy="1828800"/>
          </a:xfrm>
          <a:prstGeom prst="roundRect">
            <a:avLst>
              <a:gd name="adj" fmla="val 3000"/>
            </a:avLst>
          </a:prstGeom>
          <a:solidFill>
            <a:srgbClr val="ECEAE3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810512"/>
            <a:ext cx="73152" cy="1828800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95681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B — Verification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37760" y="223113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 ·  researching now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2487168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generation — LLM, material-grounded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— code test-cases + theory rubric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 — cold-start mastery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— spaced-practice cadence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039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(3 legs): </a:t>
            </a:r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ground truth  +  public KT benchmark  +  closed-loop vs open-loop.  Pillar B supplies the measured learning-gain leg.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Two-Pillar System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builds the open-loop platform; Phase II adds the verified closed loop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First Review (Phase I)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pic>
        <p:nvPicPr>
          <p:cNvPr id="7" name="Image 0" descr="/Users/rsaji/projects/1/college-mtech/study-planner-web/college/mydeliverables/1st-Review/deck/assets/architecture_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7291" y="1325880"/>
            <a:ext cx="5649418" cy="3063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53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Phase I (built)      </a:t>
            </a:r>
            <a:pPr algn="ctr" indent="0" marL="0">
              <a:buNone/>
            </a:pPr>
            <a:r>
              <a:rPr lang="en-US" sz="1100" b="1" dirty="0">
                <a:solidFill>
                  <a:srgbClr val="8A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</a:t>
            </a:r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Phase II (build)      </a:t>
            </a:r>
            <a:pPr algn="ctr" indent="0" marL="0">
              <a:buNone/>
            </a:pPr>
            <a:r>
              <a:rPr lang="en-US" sz="11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closed loop (the novelty)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A — Algorithms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Predict-then-optimize, made adaptive   ·   base paper: Islam (2024)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First Review (Phase I)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885950" cy="22860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4143" y="1801368"/>
            <a:ext cx="512064" cy="512064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9" name="Text 7"/>
          <p:cNvSpPr/>
          <p:nvPr/>
        </p:nvSpPr>
        <p:spPr>
          <a:xfrm>
            <a:off x="1144143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" y="2441448"/>
            <a:ext cx="16664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Calibration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2926080"/>
            <a:ext cx="16664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Bayesian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227832"/>
            <a:ext cx="16664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learner's true pace from sparse sessions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47722" y="1874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571750" y="1600200"/>
            <a:ext cx="1885950" cy="22860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58693" y="1801368"/>
            <a:ext cx="512064" cy="512064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6" name="Text 14"/>
          <p:cNvSpPr/>
          <p:nvPr/>
        </p:nvSpPr>
        <p:spPr>
          <a:xfrm>
            <a:off x="3258693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681478" y="2441448"/>
            <a:ext cx="16664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681478" y="2926080"/>
            <a:ext cx="16664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/ control charts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81478" y="3227832"/>
            <a:ext cx="16664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behavioural shifts as they happen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62272" y="1874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686300" y="1600200"/>
            <a:ext cx="1885950" cy="22860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73243" y="1801368"/>
            <a:ext cx="512064" cy="512064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23" name="Text 21"/>
          <p:cNvSpPr/>
          <p:nvPr/>
        </p:nvSpPr>
        <p:spPr>
          <a:xfrm>
            <a:off x="5373243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96028" y="2441448"/>
            <a:ext cx="16664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Projection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96028" y="2926080"/>
            <a:ext cx="16664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96028" y="3227832"/>
            <a:ext cx="16664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date with a calibrated uncertainty band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76822" y="18745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800850" y="1600200"/>
            <a:ext cx="1885950" cy="22860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87793" y="1801368"/>
            <a:ext cx="512064" cy="512064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30" name="Text 28"/>
          <p:cNvSpPr/>
          <p:nvPr/>
        </p:nvSpPr>
        <p:spPr>
          <a:xfrm>
            <a:off x="7487793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10578" y="2441448"/>
            <a:ext cx="16664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Generator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910578" y="2926080"/>
            <a:ext cx="16664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Constraint-based + role-phasing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10578" y="3227832"/>
            <a:ext cx="16664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a concrete, feasible plan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computes calibration </a:t>
            </a:r>
            <a:pPr algn="ctr" indent="0" marL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open-loop</a:t>
            </a:r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(computed, not yet fed back).  Phase II closes the loop.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B — Algorithms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Exam-realistic, material-grounded verification   ·   base paper: CLST (2024)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First Review (Phase I)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material </a:t>
            </a:r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LLM item generation (concept-tagged)  →  auto-grading  →  </a:t>
            </a:r>
            <a:pPr algn="ctr" indent="0" marL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knowledge tracing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977640" cy="2057400"/>
          </a:xfrm>
          <a:prstGeom prst="roundRect">
            <a:avLst>
              <a:gd name="adj" fmla="val 2667"/>
            </a:avLst>
          </a:prstGeom>
          <a:solidFill>
            <a:srgbClr val="D9E4E2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— decided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4747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User-selected style: Tier 1 presets (Generic / Exam-realistic) + Tier 2 build-your-own pattern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pattern schema: sections · item types · marks · timing · negative marking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modalities: auto-graded coding (POJ) + theory MCQ / short-answer (Eedi)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Concept-level cold-start KT; LLM cost controls (cache · batch)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3977640" cy="2057400"/>
          </a:xfrm>
          <a:prstGeom prst="roundRect">
            <a:avLst>
              <a:gd name="adj" fmla="val 2667"/>
            </a:avLst>
          </a:prstGeom>
          <a:solidFill>
            <a:srgbClr val="F2E4C6"/>
          </a:solidFill>
          <a:ln w="12700">
            <a:solidFill>
              <a:srgbClr val="C997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920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— under user research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240280"/>
            <a:ext cx="34747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Exam-pattern template library — which target exams (GATE, GRE, course papers, certs)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item counts per section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mix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mastery thresholds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57200" y="39502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specifics are finalized through primary user research — a Phase-I requirements activity. A timed, exam-patterned test is harder to game = a more valid learning signal. Build is Phase II.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papers surveyed (2024–2026)  ·  12 anchors across both pillars  ·  ★ = base paper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First Review (Phase I)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A — Adaptation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0690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  <a:gridCol w="16916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Pace / Bayesian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Bayesian (N=312)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Saqr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CSD; 88% warn early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Pérez-Suay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GP-ARD, R=0.89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Islam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Predict-then-optimize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vs static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Pagano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2,064 students; adaptive wins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SRL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Alhazbi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Time-management indicators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617720" y="13716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B — Verification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91640"/>
          <a:ext cx="40690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  <a:gridCol w="16916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 / cold-start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CLST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LLM-as-tracer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Lecture→Quiz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Local-LLM material→MCQ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tagging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KC-Tag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 KC, expert-checked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Auto-grading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Jukiewicz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 code submissions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Misconduct 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timing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Spaced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Spaced repetition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4096512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409651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 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technique exists in isolation. None combines calibration + shift-detection + uncertainty-aware projection + adaptive scheduling into a closed loop — and none verifies the learning signal that drives planning.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Evaluation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ground truth + public benchmark + head-to-head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First Review (Phase I)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2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64008" cy="84124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generator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Literature-grounded learner archetypes with known nonlinear ground truth — the generator is itself a contribution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2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63040"/>
            <a:ext cx="64008" cy="84124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KT (pyKT)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Eedi (MCQ) + POJ (coding) — benchmark vs DKT / BKT baselines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87168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2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87168"/>
            <a:ext cx="64008" cy="84124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786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Honest-vs-faker overlay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285292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gaming data to test the verification signal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487168"/>
            <a:ext cx="4023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D2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487168"/>
            <a:ext cx="64008" cy="84124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5786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 real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285292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logged sessions — validation (not proof); logging starts now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511296"/>
            <a:ext cx="8229600" cy="713232"/>
          </a:xfrm>
          <a:prstGeom prst="roundRect">
            <a:avLst>
              <a:gd name="adj" fmla="val 6410"/>
            </a:avLst>
          </a:prstGeom>
          <a:solidFill>
            <a:srgbClr val="F2E4C6"/>
          </a:solidFill>
          <a:ln w="12700">
            <a:solidFill>
              <a:srgbClr val="C997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11296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three legs:   </a:t>
            </a:r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synthetic ground truth    (2) public KT benchmark (KT-AUC ≈ 0.70–0.82)    (3) closed-loop + verified  vs  open-loop + unverified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Per-component metric · baseline it is compared against · expected result (only KT-AUC commits to a number)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First Review (Phase I)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103120"/>
                <a:gridCol w="2194560"/>
                <a:gridCol w="2423160"/>
              </a:tblGrid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against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Pace calibration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/ RMSE of pace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vs moving average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error, esp. with sparse data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detection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false-alarm rate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CUSUM vs EWMA vs CSD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winner per profile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projection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coverage, point error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 vs linear extrapolation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intervals; linear not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generation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drift, adherence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vs rule vs DP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Competitive, prerequisite-aware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Mastery (KT)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C99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on public KT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C99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DKT, BKT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C99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0.70 – 0.82 (literature range)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Cold-start mastery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at few interactions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cold-start vs standard KT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AUC in low-data regime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/ recall of fake flags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honest-vs-faker synthetic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precision; no over-flagging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generation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 / answerability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human-checked sample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valid; failures characterised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signal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/ post mastery delta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Detectable gain after genuine study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reviews — Review 1 is today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First Review (Phase I)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43000" y="1673352"/>
            <a:ext cx="6858000" cy="0"/>
          </a:xfrm>
          <a:prstGeom prst="line">
            <a:avLst/>
          </a:prstGeom>
          <a:noFill/>
          <a:ln w="19050">
            <a:solidFill>
              <a:srgbClr val="D7D2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581912"/>
            <a:ext cx="182880" cy="182880"/>
          </a:xfrm>
          <a:prstGeom prst="ellipse">
            <a:avLst/>
          </a:prstGeom>
          <a:solidFill>
            <a:srgbClr val="3D7068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44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31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581912"/>
            <a:ext cx="182880" cy="182880"/>
          </a:xfrm>
          <a:prstGeom prst="ellipse">
            <a:avLst/>
          </a:prstGeom>
          <a:solidFill>
            <a:srgbClr val="C9974B"/>
          </a:solidFill>
          <a:ln w="12700">
            <a:solidFill>
              <a:srgbClr val="C997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344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7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94760" y="1581912"/>
            <a:ext cx="182880" cy="182880"/>
          </a:xfrm>
          <a:prstGeom prst="ellipse">
            <a:avLst/>
          </a:prstGeom>
          <a:solidFill>
            <a:srgbClr val="3D7068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344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66360" y="1581912"/>
            <a:ext cx="182880" cy="182880"/>
          </a:xfrm>
          <a:prstGeom prst="ellipse">
            <a:avLst/>
          </a:prstGeom>
          <a:solidFill>
            <a:srgbClr val="3D7068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344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37960" y="1581912"/>
            <a:ext cx="182880" cy="182880"/>
          </a:xfrm>
          <a:prstGeom prst="ellipse">
            <a:avLst/>
          </a:prstGeom>
          <a:solidFill>
            <a:srgbClr val="3D7068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344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09560" y="1581912"/>
            <a:ext cx="182880" cy="182880"/>
          </a:xfrm>
          <a:prstGeom prst="ellipse">
            <a:avLst/>
          </a:prstGeom>
          <a:solidFill>
            <a:srgbClr val="3D7068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1344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331720"/>
            <a:ext cx="2590800" cy="1691640"/>
          </a:xfrm>
          <a:prstGeom prst="roundRect">
            <a:avLst>
              <a:gd name="adj" fmla="val 3243"/>
            </a:avLst>
          </a:prstGeom>
          <a:solidFill>
            <a:srgbClr val="D9E4E2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2441448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30%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2743200"/>
            <a:ext cx="213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+ two-pillar architecture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— both pillars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(per-component)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references (12 anchors)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Data-capture foundation built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76600" y="2331720"/>
            <a:ext cx="2590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2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1192" y="2441448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80%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50920" y="2743200"/>
            <a:ext cx="213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generator built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— 4 components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scheduler + dashboards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comparison results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96000" y="2331720"/>
            <a:ext cx="2590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2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0592" y="2441448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100%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70320" y="2743200"/>
            <a:ext cx="213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comparison vs baselines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(synthetic + KT)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— open-loop planner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journal paper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also delivers the offline research: 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generator + algorithm comparison for Pillar A  (next slide: what is already built).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The 30%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the full two-pillar + research scope: the 30% is the data-capture foundation, with the research designed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First Review (Phase I)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77640" cy="2121408"/>
          </a:xfrm>
          <a:prstGeom prst="roundRect">
            <a:avLst>
              <a:gd name="adj" fmla="val 2586"/>
            </a:avLst>
          </a:prstGeom>
          <a:solidFill>
            <a:srgbClr val="D9E4E2"/>
          </a:solidFill>
          <a:ln w="12700">
            <a:solidFill>
              <a:srgbClr val="3D70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3977640" cy="54864"/>
          </a:xfrm>
          <a:prstGeom prst="rect">
            <a:avLst/>
          </a:prstGeom>
          <a:solidFill>
            <a:srgbClr val="3D706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55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Data-capture foundation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929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Review-1 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221992"/>
            <a:ext cx="3474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logging + lifecycle (timer · pause / resume)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event store (Dexie, isolated) + event data model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(Supabase) + cloud sync (queue · snapshots · restore)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397764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C997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508760"/>
            <a:ext cx="3977640" cy="54864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55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— Offline research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929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Phase-I scope · build in R2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221992"/>
            <a:ext cx="34747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algorithm-comparison methodology defined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generator designed — 6 archetypes, known ground truth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B assessment approach surveyed + designed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713232"/>
          </a:xfrm>
          <a:prstGeom prst="roundRect">
            <a:avLst>
              <a:gd name="adj" fmla="val 641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9476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on the Phase-I rubric →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80%: static scheduler · progress dashboards · data generator built + algorithm comparison + intermediate results.   R3 · 100%: full model comparison + demo.   (Tagged r1/30pct.)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Plan — What We Will Deliver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reviews that close the loop and build the verification pillar (the novelty)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 ·  Rohit Saji  ·  First Review (Phase I)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0" y="48326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59080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2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2590800" cy="54864"/>
          </a:xfrm>
          <a:prstGeom prst="rect">
            <a:avLst/>
          </a:prstGeom>
          <a:solidFill>
            <a:srgbClr val="3D706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55448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40%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792" y="1828800"/>
            <a:ext cx="231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+ first loop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112264"/>
            <a:ext cx="2115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Intelligence Service (FastAPI); migrate Pillar-A engines TS → Python</a:t>
            </a:r>
            <a:endParaRPr lang="en-US" sz="9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loop v1: calibration → reschedule</a:t>
            </a:r>
            <a:endParaRPr lang="en-US" sz="9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B: lock assessment design from user research; item-generation prototype</a:t>
            </a:r>
            <a:endParaRPr lang="en-US" sz="9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proposal + Phase-II expected outcomes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276600" y="1417320"/>
            <a:ext cx="259080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D2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6600" y="1417320"/>
            <a:ext cx="2590800" cy="54864"/>
          </a:xfrm>
          <a:prstGeom prst="rect">
            <a:avLst/>
          </a:prstGeom>
          <a:solidFill>
            <a:srgbClr val="3D7068"/>
          </a:solidFill>
          <a:ln/>
        </p:spPr>
      </p:sp>
      <p:sp>
        <p:nvSpPr>
          <p:cNvPr id="14" name="Text 12"/>
          <p:cNvSpPr/>
          <p:nvPr/>
        </p:nvSpPr>
        <p:spPr>
          <a:xfrm>
            <a:off x="3441192" y="155448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80%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41192" y="1828800"/>
            <a:ext cx="231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loop + verification build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50920" y="2112264"/>
            <a:ext cx="2115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loop: CUSUM → replan triggers; GP uses calibrated pace</a:t>
            </a:r>
            <a:endParaRPr lang="en-US" sz="9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B: auto-grading (code + theory) + cold-start KT → mastery</a:t>
            </a:r>
            <a:endParaRPr lang="en-US" sz="9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styles: Tier-1 presets + Tier-2 pattern builder</a:t>
            </a:r>
            <a:endParaRPr lang="en-US" sz="9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results: closed-vs-open; KT-AUC on Eedi / POJ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096000" y="1417320"/>
            <a:ext cx="2590800" cy="2468880"/>
          </a:xfrm>
          <a:prstGeom prst="roundRect">
            <a:avLst>
              <a:gd name="adj" fmla="val 2222"/>
            </a:avLst>
          </a:prstGeom>
          <a:solidFill>
            <a:srgbClr val="F2E4C6"/>
          </a:solidFill>
          <a:ln w="12700">
            <a:solidFill>
              <a:srgbClr val="C997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6000" y="1417320"/>
            <a:ext cx="2590800" cy="54864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19" name="Text 17"/>
          <p:cNvSpPr/>
          <p:nvPr/>
        </p:nvSpPr>
        <p:spPr>
          <a:xfrm>
            <a:off x="6260592" y="1554480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100%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60592" y="1828800"/>
            <a:ext cx="231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publication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70320" y="2112264"/>
            <a:ext cx="2115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verified closed loop (real + synthetic data)</a:t>
            </a:r>
            <a:endParaRPr lang="en-US" sz="9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eval: closed + verified vs open + unverified — adherence + learning gain</a:t>
            </a:r>
            <a:endParaRPr lang="en-US" sz="9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vs base papers (Islam, CLST) + baselines</a:t>
            </a:r>
            <a:endParaRPr lang="en-US" sz="9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+ journal paper (publication proof)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57200" y="4032504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325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Phase-II thesis: 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open-loop platform into a verified closed loop — Pillar B verifies the learning signal that drives Pillar A's replanning.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Study Planning for Self-Directed Learners — First Review</dc:title>
  <dc:subject>PptxGenJS Presentation</dc:subject>
  <dc:creator>Rohit Saji</dc:creator>
  <cp:lastModifiedBy>Rohit Saji</cp:lastModifiedBy>
  <cp:revision>1</cp:revision>
  <dcterms:created xsi:type="dcterms:W3CDTF">2026-06-06T10:59:25Z</dcterms:created>
  <dcterms:modified xsi:type="dcterms:W3CDTF">2026-06-06T10:59:25Z</dcterms:modified>
</cp:coreProperties>
</file>