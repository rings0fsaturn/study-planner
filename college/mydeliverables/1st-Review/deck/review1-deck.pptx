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Good morning, Professor — and welcome to any additional panel members. I am Rohit Saji, PES2PGE24DS201. This is my Phase I First Review for Adaptive Study Planning for Self-Directed Learners.</a:t>
            </a:r>
          </a:p>
          <a:p>
            <a:r>
              <a:t>→ Walk the slide, then move quickly — this is a title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Hook: Self-directed learners build plans that break within days, and self-reported time has no ground truth.</a:t>
            </a:r>
          </a:p>
          <a:p>
            <a:r>
              <a:t>→ Key point: 'verified closed-loop' means the system checks whether learning happened, then adapts the schedule.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CRITICAL SLIDE. Open with: 'Professor, your question — how do you stop users passing false session data — reshaped this entire project.'</a:t>
            </a:r>
          </a:p>
          <a:p>
            <a:r>
              <a:t>→ Pillar A = adaptation engine. Pillar B = verification signal. Neither works without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Describe the diagram verbally: solid = Phase I (built/researching), dashed = Phase II (novelty), gold arrows = the closed feedback loop.</a:t>
            </a:r>
          </a:p>
          <a:p>
            <a:r>
              <a:t>→ Three tiers: client app (bottom) → Python intelligence service (middle) → offline research (top). Supabase is the data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Walk the pipeline left to right: (1) Bayesian calibration learns true pace, (2) CUSUM catches habit shifts, (3) GP gives a completion band not just a date, (4) constraint-based scheduler regenerates the plan.</a:t>
            </a:r>
          </a:p>
          <a:p>
            <a:r>
              <a:t>→ Phase I computes calibration open-loop; Phase II closes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Design is decided; build is Phase II. Flow: ingest material → LLM generates questions → auto-grade → knowledge tracing → mastery estimate.</a:t>
            </a:r>
          </a:p>
          <a:p>
            <a:r>
              <a:t>→ Key point: a timed, material-grounded test is hard to game — that is the valid verification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48 papers, 12 anchors, 2 base papers (Islam 2024 for Pillar A; CLST 2024 for Pillar B).</a:t>
            </a:r>
          </a:p>
          <a:p>
            <a:r>
              <a:t>→ THE GAP: nobody combines calibration + shift detection + uncertainty projection + adaptive scheduling into a verified closed loop. Each piece exists; the combination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data sources: synthetic generator (known ground truth), pyKT public benchmarks (Eedi + POJ), honest-vs-faker overlay, N=1 real sessions.</a:t>
            </a:r>
          </a:p>
          <a:p>
            <a:r>
              <a:t>→ Three-leg evaluation: synthetic ground truth + public benchmarks + closed-loop vs open-loop.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Directional hypotheses only — the only committed number is KT-AUC 0.70–0.82 (published benchmark range).</a:t>
            </a:r>
          </a:p>
          <a:p>
            <a:r>
              <a:t>→ Walk key rows: Bayesian &lt; SMA error (sparse data); GP calibrated band vs overconfident linear; KT-AUC in benchmark range; high precision on fake-session 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Today = R1 (30%). June 21 = R2 (80%): generator built + comparison running + scheduler live. July 5 = R3 (100%): full results + demo + journal draft.</a:t>
            </a:r>
          </a:p>
          <a:p>
            <a:r>
              <a:t>→ Phase II begins after July — that is where the loop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30% = data-capture foundation: session logging, per-user event store, auth + cloud sync.</a:t>
            </a:r>
          </a:p>
          <a:p>
            <a:r>
              <a:t>→ BUILT = the code. DESIGNED = 4-stage methodology + synthetic generator design + Pillar B architecture. The remaining 70% is Reviews 2 and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Phase II closes the loop and builds Pillar B — the real novelty.</a:t>
            </a:r>
          </a:p>
          <a:p>
            <a:r>
              <a:t>→ End with: 'Phase I gives us the validated open-loop baseline. Phase II is where we answer the thesis question: does verified, closed-loop adaptation beat open-loop self-reporting?'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  ·   PHASE I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for</a:t>
            </a:r>
            <a:endParaRPr lang="en-US" sz="38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Self-Directed Learners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254203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9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verified, closed-loop adaptive study planner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383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Rohit Saji</a:t>
            </a:r>
            <a:pPr indent="0" marL="0">
              <a:buNone/>
            </a:pPr>
            <a:r>
              <a:rPr lang="en-US" sz="1400" dirty="0">
                <a:solidFill>
                  <a:srgbClr val="D9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PES2PGE24DS201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9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M.Tech in Data Science and Artificial Intelligence   ·   PES University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57200" y="3968496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 </a:t>
            </a:r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Ramesh Prakash Guledgudd</a:t>
            </a:r>
            <a:pPr indent="0" marL="0">
              <a:buNone/>
            </a:pPr>
            <a:r>
              <a:rPr lang="en-US" sz="1250" dirty="0">
                <a:solidFill>
                  <a:srgbClr val="D9E4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7 June 2026</a:t>
            </a:r>
            <a:endParaRPr lang="en-US" sz="1250" dirty="0"/>
          </a:p>
        </p:txBody>
      </p:sp>
      <p:pic>
        <p:nvPicPr>
          <p:cNvPr id="8" name="Image 0" descr="/Users/rsaji/projects/1/college-mtech/study-planner-web/college/mydeliverables/1st-Review/report/pes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4572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building, and the problem it kills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3977640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0934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1956816"/>
            <a:ext cx="35204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Self-directed learners build fixed study plans that diverge from reality within days — they fall behind or surge ahead, and the plan never adapts.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Worse, self-reported study time has no ground truth: logged hours may produce no real learning.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444752"/>
            <a:ext cx="3977640" cy="2286000"/>
          </a:xfrm>
          <a:prstGeom prst="roundRect">
            <a:avLst>
              <a:gd name="adj" fmla="val 2400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1609344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937760" y="1956816"/>
            <a:ext cx="352044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verified closed-loop planner that learns each learner's true pace from assessment-verified sessions, detects behavioural shifts, projects completion with calibrated uncertainty, and regenerates the schedule — beating a static planner on adherence and genuine learning gains.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913632"/>
            <a:ext cx="8229600" cy="548640"/>
          </a:xfrm>
          <a:prstGeom prst="roundRect">
            <a:avLst>
              <a:gd name="adj" fmla="val 10000"/>
            </a:avLst>
          </a:prstGeom>
          <a:solidFill>
            <a:srgbClr val="F2E4C6"/>
          </a:solidFill>
          <a:ln w="12700">
            <a:solidFill>
              <a:srgbClr val="C9974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913632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pace </a:t>
            </a:r>
            <a:pPr algn="ctr" indent="0" marL="0">
              <a:buNone/>
            </a:pPr>
            <a:r>
              <a:rPr lang="en-US" sz="130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detect shift  →  project completion  →  regenerate schedule  </a:t>
            </a:r>
            <a:pPr algn="ctr" indent="0" marL="0">
              <a:buNone/>
            </a:pPr>
            <a:r>
              <a:rPr lang="en-US" sz="130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verified by assessment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the Guidance Call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one adaptive engine to two interlocking pillars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directive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“how do you stop users passing false session data?” — reshaped the project into </a:t>
            </a:r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co-equal research pillars.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39776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10512"/>
            <a:ext cx="73152" cy="1828800"/>
          </a:xfrm>
          <a:prstGeom prst="rect">
            <a:avLst/>
          </a:prstGeom>
          <a:solidFill>
            <a:srgbClr val="3D7068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9568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A — Adaptation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85800" y="2231136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 ·  research resolved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31520" y="2487168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calibration — hierarchical Bayesian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Shift detection — CUSUM change-point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 — Gaussian process (uncertainty)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constraint-based generation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1810512"/>
            <a:ext cx="3977640" cy="1828800"/>
          </a:xfrm>
          <a:prstGeom prst="roundRect">
            <a:avLst>
              <a:gd name="adj" fmla="val 3000"/>
            </a:avLst>
          </a:prstGeom>
          <a:solidFill>
            <a:srgbClr val="ECEAE3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709160" y="1810512"/>
            <a:ext cx="73152" cy="1828800"/>
          </a:xfrm>
          <a:prstGeom prst="rect">
            <a:avLst/>
          </a:prstGeom>
          <a:solidFill>
            <a:srgbClr val="C9974B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1956816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B — Verification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937760" y="2231136"/>
            <a:ext cx="3611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 ·  researching now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983480" y="2487168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generation — LLM, material-grounded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— code test-cases + theory rubric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tracing — cold-start mastery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— spaced-practice cadence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3803904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(3 legs): </a:t>
            </a:r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ground truth  +  public KT benchmark  +  closed-loop vs open-loop.  Pillar B supplies the measured learning-gain leg.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Two-Pillar System Architecture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builds the open-loop platform; Phase II adds the verified closed loop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800" dirty="0"/>
          </a:p>
        </p:txBody>
      </p:sp>
      <p:pic>
        <p:nvPicPr>
          <p:cNvPr id="7" name="Image 0" descr="/Users/rsaji/projects/1/college-mtech/study-planner-web/college/mydeliverables/1st-Review/deck/assets/architecture_horizo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7291" y="1325880"/>
            <a:ext cx="5649418" cy="30632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4531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Phase I (built)      </a:t>
            </a:r>
            <a:pPr algn="ctr" indent="0" marL="0">
              <a:buNone/>
            </a:pPr>
            <a:r>
              <a:rPr lang="en-US" sz="1100" b="1" dirty="0">
                <a:solidFill>
                  <a:srgbClr val="8A8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dashed</a:t>
            </a:r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Phase II (build)      </a:t>
            </a:r>
            <a:pPr algn="ctr" indent="0" marL="0">
              <a:buNone/>
            </a:pPr>
            <a:r>
              <a:rPr lang="en-US" sz="110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</a:t>
            </a:r>
            <a:pPr algn="ctr" indent="0" marL="0">
              <a:buNone/>
            </a:pPr>
            <a:r>
              <a:rPr lang="en-US" sz="11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closed loop (the novelty)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A — Algorithms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Predict-then-optimize, made adaptive   ·   base paper: Islam (2024)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600200"/>
            <a:ext cx="1885950" cy="22860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4143" y="1801368"/>
            <a:ext cx="512064" cy="512064"/>
          </a:xfrm>
          <a:prstGeom prst="ellipse">
            <a:avLst/>
          </a:prstGeom>
          <a:solidFill>
            <a:srgbClr val="0F3D3E"/>
          </a:solidFill>
          <a:ln/>
        </p:spPr>
      </p:sp>
      <p:sp>
        <p:nvSpPr>
          <p:cNvPr id="9" name="Text 7"/>
          <p:cNvSpPr/>
          <p:nvPr/>
        </p:nvSpPr>
        <p:spPr>
          <a:xfrm>
            <a:off x="1144143" y="1801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66928" y="2441448"/>
            <a:ext cx="1666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Calibration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66928" y="2926080"/>
            <a:ext cx="16664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Hierarchical Bayesian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66928" y="3227832"/>
            <a:ext cx="16664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the learner's true pace from sparse sessions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347722" y="18745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571750" y="1600200"/>
            <a:ext cx="1885950" cy="22860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58693" y="1801368"/>
            <a:ext cx="512064" cy="512064"/>
          </a:xfrm>
          <a:prstGeom prst="ellipse">
            <a:avLst/>
          </a:prstGeom>
          <a:solidFill>
            <a:srgbClr val="0F3D3E"/>
          </a:solidFill>
          <a:ln/>
        </p:spPr>
      </p:sp>
      <p:sp>
        <p:nvSpPr>
          <p:cNvPr id="16" name="Text 14"/>
          <p:cNvSpPr/>
          <p:nvPr/>
        </p:nvSpPr>
        <p:spPr>
          <a:xfrm>
            <a:off x="3258693" y="1801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681478" y="2441448"/>
            <a:ext cx="1666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2681478" y="2926080"/>
            <a:ext cx="16664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CUSUM / control charts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681478" y="3227832"/>
            <a:ext cx="16664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behavioural shifts as they happen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462272" y="18745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686300" y="1600200"/>
            <a:ext cx="1885950" cy="22860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73243" y="1801368"/>
            <a:ext cx="512064" cy="512064"/>
          </a:xfrm>
          <a:prstGeom prst="ellipse">
            <a:avLst/>
          </a:prstGeom>
          <a:solidFill>
            <a:srgbClr val="0F3D3E"/>
          </a:solidFill>
          <a:ln/>
        </p:spPr>
      </p:sp>
      <p:sp>
        <p:nvSpPr>
          <p:cNvPr id="23" name="Text 21"/>
          <p:cNvSpPr/>
          <p:nvPr/>
        </p:nvSpPr>
        <p:spPr>
          <a:xfrm>
            <a:off x="5373243" y="1801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796028" y="2441448"/>
            <a:ext cx="1666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Projection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796028" y="2926080"/>
            <a:ext cx="16664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Process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96028" y="3227832"/>
            <a:ext cx="16664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date with a calibrated uncertainty band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76822" y="18745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800850" y="1600200"/>
            <a:ext cx="1885950" cy="22860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487793" y="1801368"/>
            <a:ext cx="512064" cy="512064"/>
          </a:xfrm>
          <a:prstGeom prst="ellipse">
            <a:avLst/>
          </a:prstGeom>
          <a:solidFill>
            <a:srgbClr val="0F3D3E"/>
          </a:solidFill>
          <a:ln/>
        </p:spPr>
      </p:sp>
      <p:sp>
        <p:nvSpPr>
          <p:cNvPr id="30" name="Text 28"/>
          <p:cNvSpPr/>
          <p:nvPr/>
        </p:nvSpPr>
        <p:spPr>
          <a:xfrm>
            <a:off x="7487793" y="180136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910578" y="2441448"/>
            <a:ext cx="16664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Generator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6910578" y="2926080"/>
            <a:ext cx="166649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Constraint-based + role-phasing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910578" y="3227832"/>
            <a:ext cx="166649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Regenerate a concrete, feasible plan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computes calibration </a:t>
            </a:r>
            <a:pPr algn="ctr" indent="0" marL="0">
              <a:buNone/>
            </a:pPr>
            <a:r>
              <a:rPr lang="en-US" sz="11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open-loop</a:t>
            </a:r>
            <a:pPr algn="ctr" indent="0" marL="0">
              <a:buNone/>
            </a:pPr>
            <a:r>
              <a:rPr lang="en-US" sz="115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(computed, not yet fed back).  Phase II closes the loop.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B — Algorithms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Exam-realistic, material-grounded verification   ·   base paper: CLST (2024)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material </a:t>
            </a:r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LLM item generation (concept-tagged)  →  auto-grading  →  </a:t>
            </a:r>
            <a:pPr algn="ctr"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cold-start knowledge tracing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977640" cy="2057400"/>
          </a:xfrm>
          <a:prstGeom prst="roundRect">
            <a:avLst>
              <a:gd name="adj" fmla="val 2667"/>
            </a:avLst>
          </a:prstGeom>
          <a:solidFill>
            <a:srgbClr val="D9E4E2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202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— decided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240280"/>
            <a:ext cx="34747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User-selected style: Tier 1 presets (Generic / Exam-realistic) + Tier 2 build-your-own pattern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pattern schema: sections · item types · marks · timing · negative marking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modalities: auto-graded coding (POJ) + theory MCQ / short-answer (Eedi)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Concept-level cold-start KT; LLM cost controls (cache · batch)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709160" y="1783080"/>
            <a:ext cx="3977640" cy="2057400"/>
          </a:xfrm>
          <a:prstGeom prst="roundRect">
            <a:avLst>
              <a:gd name="adj" fmla="val 2667"/>
            </a:avLst>
          </a:prstGeom>
          <a:solidFill>
            <a:srgbClr val="F2E4C6"/>
          </a:solidFill>
          <a:ln w="12700">
            <a:solidFill>
              <a:srgbClr val="C99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37760" y="19202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 — under user research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983480" y="2240280"/>
            <a:ext cx="34747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Exam-pattern template library — which target exams (GATE, GRE, course papers, certs)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 &amp; item counts per section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mix</a:t>
            </a:r>
            <a:endParaRPr lang="en-US" sz="108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mastery thresholds</a:t>
            </a:r>
            <a:endParaRPr lang="en-US" sz="1080" dirty="0"/>
          </a:p>
        </p:txBody>
      </p:sp>
      <p:sp>
        <p:nvSpPr>
          <p:cNvPr id="14" name="Text 12"/>
          <p:cNvSpPr/>
          <p:nvPr/>
        </p:nvSpPr>
        <p:spPr>
          <a:xfrm>
            <a:off x="457200" y="395020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specifics are finalized through primary user research — a Phase-I requirements activity. A timed, exam-patterned test is harder to game = a more valid learning signal. Build is Phase II.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Survey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papers surveyed (2024–2026)  ·  12 anchors across both pillars  ·  ★ = base paper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3716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A — Adaptation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40690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23444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 / Bayesian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Hierarchical Bayesian (N=312)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Shift 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Saqr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CSD; 88% warn early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Pérez-Suay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GP-ARD, R=0.89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Scheduling 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Islam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Predict-then-optimize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Adaptive vs static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Pagano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2,064 students; adaptive wins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SRL analytics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Alhazbi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Time-management indicators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617720" y="13716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B — Verification</a:t>
            </a:r>
            <a:endParaRPr lang="en-US" sz="13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17720" y="1691640"/>
          <a:ext cx="40690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234440"/>
                <a:gridCol w="169164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KT / cold-start ★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CLST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LLM-as-tracer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generation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Lecture→Quiz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Local-LLM material→MCQ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 tagging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KC-Tag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GPT-4 KC, expert-checked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Auto-grading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Jukiewicz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code submissions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Integrity 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Misconduct detection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Retention timing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i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Spaced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B677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Spaced repetition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4096512"/>
            <a:ext cx="8229600" cy="566928"/>
          </a:xfrm>
          <a:prstGeom prst="roundRect">
            <a:avLst>
              <a:gd name="adj" fmla="val 8065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40080" y="409651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   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technique exists in isolation. None combines calibration + shift-detection + uncertainty-aware projection + adaptive scheduling into a closed loop — and none verifies the learning signal that drives planning.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&amp; Evaluation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ground truth + public benchmark + head-to-head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40233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63040"/>
            <a:ext cx="64008" cy="8412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generator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1828800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Literature-grounded learner archetypes with known nonlinear ground truth — the generator is itself a contribution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1463040"/>
            <a:ext cx="40233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463040"/>
            <a:ext cx="64008" cy="8412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15544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KT (pyKT)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846320" y="1828800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Eedi (MCQ) + POJ (coding) — benchmark vs DKT / BKT baselines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487168"/>
            <a:ext cx="40233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487168"/>
            <a:ext cx="64008" cy="8412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5786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Honest-vs-faker overlay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2852928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gaming data to test the verification signal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487168"/>
            <a:ext cx="402336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2487168"/>
            <a:ext cx="64008" cy="841248"/>
          </a:xfrm>
          <a:prstGeom prst="rect">
            <a:avLst/>
          </a:prstGeom>
          <a:solidFill>
            <a:srgbClr val="2E7D5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57860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1 real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846320" y="2852928"/>
            <a:ext cx="3703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logged sessions — validation (not proof); logging starts now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511296"/>
            <a:ext cx="8229600" cy="713232"/>
          </a:xfrm>
          <a:prstGeom prst="roundRect">
            <a:avLst>
              <a:gd name="adj" fmla="val 6410"/>
            </a:avLst>
          </a:prstGeom>
          <a:solidFill>
            <a:srgbClr val="F2E4C6"/>
          </a:solidFill>
          <a:ln w="12700">
            <a:solidFill>
              <a:srgbClr val="C9974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511296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— three legs:   </a:t>
            </a:r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synthetic ground truth    (2) public KT benchmark (KT-AUC ≈ 0.70–0.82)    (3) closed-loop + verified  vs  open-loop + unverified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Per-component metric · baseline it is compared against · expected result (only KT-AUC commits to a number)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103120"/>
                <a:gridCol w="2194560"/>
                <a:gridCol w="2423160"/>
              </a:tblGrid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Compared against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result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3D3E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 calibration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 / RMSE of pace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Bayesian vs moving average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error, esp. with sparse data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detection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Latency, false-alarm rate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CUSUM vs EWMA vs CSD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winner per profile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Progress projection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 CI coverage, point error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 vs linear extrapolation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intervals; linear not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generation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Deadline drift, adherence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 vs rule vs DP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Competitive, prerequisite-aware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Mastery (KT)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C997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on public KT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C997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DKT, BKT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C997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0.70 – 0.82 (literature range)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Cold-start mastery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 at few interactions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cold-start vs standard KT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AUC in low-data regime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Verification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/ recall of fake flags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honest-vs-faker synthetic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precision; no over-flagging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generation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Validity / answerability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human-checked sample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Majority valid; failures characterised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54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F3D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signal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 / post mastery delta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Detectable gain after genuine study</a:t>
                      </a:r>
                      <a:endParaRPr lang="en-US" sz="8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EE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Roadmap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reviews — Review 1 is today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43000" y="1673352"/>
            <a:ext cx="6858000" cy="0"/>
          </a:xfrm>
          <a:prstGeom prst="line">
            <a:avLst/>
          </a:prstGeom>
          <a:noFill/>
          <a:ln w="19050">
            <a:solidFill>
              <a:srgbClr val="D7D2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51560" y="1581912"/>
            <a:ext cx="182880" cy="182880"/>
          </a:xfrm>
          <a:prstGeom prst="ellipse">
            <a:avLst/>
          </a:prstGeom>
          <a:solidFill>
            <a:srgbClr val="3D7068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344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31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7200" y="18013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1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423160" y="1581912"/>
            <a:ext cx="182880" cy="182880"/>
          </a:xfrm>
          <a:prstGeom prst="ellipse">
            <a:avLst/>
          </a:prstGeom>
          <a:solidFill>
            <a:srgbClr val="C9974B"/>
          </a:solidFill>
          <a:ln w="12700">
            <a:solidFill>
              <a:srgbClr val="C9974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1344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7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28800" y="18013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828800" y="201168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794760" y="1581912"/>
            <a:ext cx="182880" cy="182880"/>
          </a:xfrm>
          <a:prstGeom prst="ellipse">
            <a:avLst/>
          </a:prstGeom>
          <a:solidFill>
            <a:srgbClr val="3D7068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00400" y="1344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14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200400" y="18013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2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166360" y="1581912"/>
            <a:ext cx="182880" cy="182880"/>
          </a:xfrm>
          <a:prstGeom prst="ellipse">
            <a:avLst/>
          </a:prstGeom>
          <a:solidFill>
            <a:srgbClr val="3D7068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1344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0" y="18013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537960" y="1581912"/>
            <a:ext cx="182880" cy="182880"/>
          </a:xfrm>
          <a:prstGeom prst="ellipse">
            <a:avLst/>
          </a:prstGeom>
          <a:solidFill>
            <a:srgbClr val="3D7068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344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28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5943600" y="18013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3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7909560" y="1581912"/>
            <a:ext cx="182880" cy="182880"/>
          </a:xfrm>
          <a:prstGeom prst="ellipse">
            <a:avLst/>
          </a:prstGeom>
          <a:solidFill>
            <a:srgbClr val="3D7068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0" y="13441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 5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315200" y="1801368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2331720"/>
            <a:ext cx="2590800" cy="1691640"/>
          </a:xfrm>
          <a:prstGeom prst="roundRect">
            <a:avLst>
              <a:gd name="adj" fmla="val 3243"/>
            </a:avLst>
          </a:prstGeom>
          <a:solidFill>
            <a:srgbClr val="D9E4E2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1792" y="2441448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· 30%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2743200"/>
            <a:ext cx="213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+ two-pillar architecture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— both pillars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 (per-component)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references (12 anchors)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Data-capture foundation built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76600" y="2331720"/>
            <a:ext cx="25908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441192" y="2441448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2 · 80%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550920" y="2743200"/>
            <a:ext cx="213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generator built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comparison — 4 components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scheduler + dashboards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comparison results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096000" y="2331720"/>
            <a:ext cx="25908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60592" y="2441448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3 · 100%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370320" y="2743200"/>
            <a:ext cx="213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model comparison vs baselines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evaluation (synthetic + KT)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 — open-loop planner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journal paper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7200" y="416052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41605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also delivers the offline research:  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generator + algorithm comparison for Pillar A  (next slide: what is already built).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— The 30%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against the full two-pillar + research scope: the 30% is the data-capture foundation, with the research designed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508760"/>
            <a:ext cx="3977640" cy="2121408"/>
          </a:xfrm>
          <a:prstGeom prst="roundRect">
            <a:avLst>
              <a:gd name="adj" fmla="val 2586"/>
            </a:avLst>
          </a:prstGeom>
          <a:solidFill>
            <a:srgbClr val="D9E4E2"/>
          </a:solidFill>
          <a:ln w="12700">
            <a:solidFill>
              <a:srgbClr val="3D70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508760"/>
            <a:ext cx="3977640" cy="54864"/>
          </a:xfrm>
          <a:prstGeom prst="rect">
            <a:avLst/>
          </a:prstGeom>
          <a:solidFill>
            <a:srgbClr val="3D7068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655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— Data-capture foundation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19293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Review-1 code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221992"/>
            <a:ext cx="34747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logging + lifecycle (timer · pause / resume)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Per-user event store (Dexie, isolated) + event data model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(Supabase) + cloud sync (queue · snapshots · restore)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508760"/>
            <a:ext cx="3977640" cy="2121408"/>
          </a:xfrm>
          <a:prstGeom prst="roundRect">
            <a:avLst>
              <a:gd name="adj" fmla="val 2586"/>
            </a:avLst>
          </a:prstGeom>
          <a:solidFill>
            <a:srgbClr val="FFFFFF"/>
          </a:solidFill>
          <a:ln w="12700">
            <a:solidFill>
              <a:srgbClr val="C997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09160" y="1508760"/>
            <a:ext cx="3977640" cy="54864"/>
          </a:xfrm>
          <a:prstGeom prst="rect">
            <a:avLst/>
          </a:prstGeom>
          <a:solidFill>
            <a:srgbClr val="C9974B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655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— Offline research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1929384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Phase-I scope · build in R2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983480" y="2221992"/>
            <a:ext cx="347472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4-stage algorithm-comparison methodology defined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Synthetic-data generator designed — 6 archetypes, known ground truth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B assessment approach surveyed + designed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794760"/>
            <a:ext cx="8229600" cy="713232"/>
          </a:xfrm>
          <a:prstGeom prst="roundRect">
            <a:avLst>
              <a:gd name="adj" fmla="val 6410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794760"/>
            <a:ext cx="7863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on the Phase-I rubric →  </a:t>
            </a:r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80%: static scheduler · progress dashboards · data generator built + algorithm comparison + intermediate results.   R3 · 100%: full model comparison + demo.   (Tagged r1/30pct.)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Plan — What We Will Deliver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96926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reviews that close the loop and build the verification pillar (the novelty)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57200" y="4832604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Study Planning  ·  Rohit Saji  ·  First Review (Phase I)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863840" y="483260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259080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417320"/>
            <a:ext cx="2590800" cy="54864"/>
          </a:xfrm>
          <a:prstGeom prst="rect">
            <a:avLst/>
          </a:prstGeom>
          <a:solidFill>
            <a:srgbClr val="3D7068"/>
          </a:solidFill>
          <a:ln/>
        </p:spPr>
      </p:sp>
      <p:sp>
        <p:nvSpPr>
          <p:cNvPr id="9" name="Text 7"/>
          <p:cNvSpPr/>
          <p:nvPr/>
        </p:nvSpPr>
        <p:spPr>
          <a:xfrm>
            <a:off x="621792" y="1554480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40%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21792" y="1828800"/>
            <a:ext cx="231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+ first loop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31520" y="2112264"/>
            <a:ext cx="21153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Intelligence Service (FastAPI); migrate Pillar-A engines TS → Python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loop v1: calibration → reschedule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B: lock assessment design from user research; item-generation prototype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proposal + Phase-II expected outcomes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3276600" y="1417320"/>
            <a:ext cx="259080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7D2C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76600" y="1417320"/>
            <a:ext cx="2590800" cy="54864"/>
          </a:xfrm>
          <a:prstGeom prst="rect">
            <a:avLst/>
          </a:prstGeom>
          <a:solidFill>
            <a:srgbClr val="3D7068"/>
          </a:solidFill>
          <a:ln/>
        </p:spPr>
      </p:sp>
      <p:sp>
        <p:nvSpPr>
          <p:cNvPr id="14" name="Text 12"/>
          <p:cNvSpPr/>
          <p:nvPr/>
        </p:nvSpPr>
        <p:spPr>
          <a:xfrm>
            <a:off x="3441192" y="1554480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3D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80%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441192" y="1828800"/>
            <a:ext cx="231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loop + verification build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550920" y="2112264"/>
            <a:ext cx="21153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loop: CUSUM → replan triggers; GP uses calibrated pace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Pillar B: auto-grading (code + theory) + cold-start KT → mastery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styles: Tier-1 presets + Tier-2 pattern builder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results: closed-vs-open; KT-AUC on Eedi / POJ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6096000" y="1417320"/>
            <a:ext cx="2590800" cy="2468880"/>
          </a:xfrm>
          <a:prstGeom prst="roundRect">
            <a:avLst>
              <a:gd name="adj" fmla="val 2222"/>
            </a:avLst>
          </a:prstGeom>
          <a:solidFill>
            <a:srgbClr val="F2E4C6"/>
          </a:solidFill>
          <a:ln w="12700">
            <a:solidFill>
              <a:srgbClr val="C9974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96000" y="1417320"/>
            <a:ext cx="2590800" cy="54864"/>
          </a:xfrm>
          <a:prstGeom prst="rect">
            <a:avLst/>
          </a:prstGeom>
          <a:solidFill>
            <a:srgbClr val="C9974B"/>
          </a:solidFill>
          <a:ln/>
        </p:spPr>
      </p:sp>
      <p:sp>
        <p:nvSpPr>
          <p:cNvPr id="19" name="Text 17"/>
          <p:cNvSpPr/>
          <p:nvPr/>
        </p:nvSpPr>
        <p:spPr>
          <a:xfrm>
            <a:off x="6260592" y="1554480"/>
            <a:ext cx="231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100%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60592" y="1828800"/>
            <a:ext cx="231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7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+ publication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370320" y="2112264"/>
            <a:ext cx="21153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verified closed loop (real + synthetic data)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eval: closed + verified vs open + unverified — adherence + learning gain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comparison vs base papers (Islam, CLST) + baselines</a:t>
            </a:r>
            <a:endParaRPr lang="en-US" sz="98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demo + journal paper (publication proof)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457200" y="4032504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0F3D3E"/>
          </a:solidFill>
          <a:ln w="12700">
            <a:solidFill>
              <a:srgbClr val="0F3D3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032504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997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Phase-II thesis:  </a:t>
            </a:r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open-loop platform into a verified closed loop — Pillar B verifies the learning signal that drives Pillar A's replanning.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Study Planning for Self-Directed Learners — First Review</dc:title>
  <dc:subject>PptxGenJS Presentation</dc:subject>
  <dc:creator>Rohit Saji</dc:creator>
  <cp:lastModifiedBy>Rohit Saji</cp:lastModifiedBy>
  <cp:revision>1</cp:revision>
  <dcterms:created xsi:type="dcterms:W3CDTF">2026-06-06T10:59:25Z</dcterms:created>
  <dcterms:modified xsi:type="dcterms:W3CDTF">2026-06-06T10:59:25Z</dcterms:modified>
</cp:coreProperties>
</file>