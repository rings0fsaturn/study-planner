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GUIDANCE CALL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May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Study Planning for Self-Directed Learners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Data Science &amp; AI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 (Great Learning)</a:t>
            </a:r>
            <a:endParaRPr lang="en-US" sz="1500" dirty="0"/>
          </a:p>
        </p:txBody>
      </p:sp>
      <p:pic>
        <p:nvPicPr>
          <p:cNvPr id="7" name="Image 0" descr="pe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456" y="411480"/>
            <a:ext cx="999344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97680" y="1188720"/>
            <a:ext cx="4526280" cy="1572768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0" y="1188720"/>
            <a:ext cx="91440" cy="1572768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444752"/>
            <a:ext cx="475488" cy="475488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627" y="1568379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4447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08576" y="2029968"/>
            <a:ext cx="3922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learners make study plans that become useless within days — they fall behind or move ahead, and the plan never adjusts.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7680" y="3017520"/>
            <a:ext cx="4526280" cy="1572768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3017520"/>
            <a:ext cx="91440" cy="1572768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0" y="3273552"/>
            <a:ext cx="475488" cy="475488"/>
          </a:xfrm>
          <a:prstGeom prst="ellipse">
            <a:avLst/>
          </a:prstGeom>
          <a:solidFill>
            <a:srgbClr val="C997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627" y="3397179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32735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608576" y="3858768"/>
            <a:ext cx="3922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planning system that learns your real pace, detects when your habits change, and automatically adjusts your schedule.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01000" y="4754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recent papers (2024–2026)  ·  6 research themes  ·  IEEE, ACM, Cognitive Science &amp; Springer venues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  <a:gridCol w="50292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Theme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Knowledge Tracing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models work even with small data — validated at N = 312   [2,4,5]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Change-Point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CUSUM / EWMA from SPC; 88% of dropouts show warning signals   [6,9,10]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Process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0.89 on educational data; built-in uncertainty quantification   [11,12,15]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Path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Constraint-based + DP; adaptive paths cut study time   [16,17,18]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Self-Regulated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Time-management indicators dominate SRL metrics   [21]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Spaced Practice &amp; Scheduling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 effect largest for hard material — supports sequencing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530352"/>
          </a:xfrm>
          <a:prstGeom prst="rect">
            <a:avLst/>
          </a:prstGeom>
          <a:solidFill>
            <a:srgbClr val="F2E4C6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C997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4292194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41148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techniques exist in isolation — no system combines learner modeling, behavior detection, prediction &amp; adaptive scheduling into one closed-loop system for self-directed learners.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D7D2C5"/>
            </a:solidFill>
            <a:prstDash val="solid"/>
          </a:ln>
        </p:spPr>
      </p:sp>
      <p:pic>
        <p:nvPicPr>
          <p:cNvPr id="11" name="Image 1" descr="pe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86884"/>
            <a:ext cx="539646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862" y="478688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   ·   Rohit Saji   ·   First Guidance Call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8001000" y="47868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Areas — Progress Since Zeroth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zeroth:  </a:t>
            </a:r>
            <a:pPr algn="l" indent="0" marL="0">
              <a:buNone/>
            </a:pPr>
            <a:r>
              <a:rPr lang="en-US" sz="11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 resolved</a:t>
            </a:r>
            <a:pPr algn="l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Now:  </a:t>
            </a:r>
            <a:pPr algn="l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resolved</a:t>
            </a:r>
            <a:pPr algn="l" indent="0" marL="0">
              <a:buNone/>
            </a:pPr>
            <a:r>
              <a:rPr lang="en-US" sz="11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 open (seeking your input)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120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447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1539850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417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learn a student's actual study pace?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70432" y="16459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Bayesian  vs  Simple Moving Average    </a:t>
            </a:r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[2,4,5]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929384"/>
            <a:ext cx="822960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929384"/>
            <a:ext cx="73152" cy="5120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" y="20025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6" y="2097634"/>
            <a:ext cx="175565" cy="1755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1975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detect when study behavior changes?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70432" y="22037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 vs  EWMA  vs  CSD Indicators    </a:t>
            </a:r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[6,9,10]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680960" y="207568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80960" y="20756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OPEN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57200" y="2487168"/>
            <a:ext cx="822960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487168"/>
            <a:ext cx="73152" cy="5120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1" name="Shape 17"/>
          <p:cNvSpPr/>
          <p:nvPr/>
        </p:nvSpPr>
        <p:spPr>
          <a:xfrm>
            <a:off x="658368" y="25603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6" y="2655418"/>
            <a:ext cx="175565" cy="1755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70432" y="25328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predict when they'll finish (with confidence)?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170432" y="27614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Regression (ARD)  vs  Linear Extrapolation    </a:t>
            </a:r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[11,12,15]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57200" y="3044952"/>
            <a:ext cx="822960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044952"/>
            <a:ext cx="73152" cy="5120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7" name="Shape 22"/>
          <p:cNvSpPr/>
          <p:nvPr/>
        </p:nvSpPr>
        <p:spPr>
          <a:xfrm>
            <a:off x="658368" y="311810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6" y="3213202"/>
            <a:ext cx="175565" cy="17556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70432" y="30906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algn="l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automatically adjust the schedule?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170432" y="33192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+ Role-phasing  vs  DP  vs  Rule-based    </a:t>
            </a:r>
            <a:pPr algn="l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[16,17,18]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680960" y="3191256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680960" y="31912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OPEN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457200" y="3602736"/>
            <a:ext cx="8229600" cy="950976"/>
          </a:xfrm>
          <a:prstGeom prst="rect">
            <a:avLst/>
          </a:prstGeom>
          <a:solidFill>
            <a:srgbClr val="F2E4C6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7200" y="3602736"/>
            <a:ext cx="73152" cy="950976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35" name="Shape 29"/>
          <p:cNvSpPr/>
          <p:nvPr/>
        </p:nvSpPr>
        <p:spPr>
          <a:xfrm>
            <a:off x="658368" y="3749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6" y="3844138"/>
            <a:ext cx="175565" cy="17556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70432" y="36941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algn="l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if adaptive beats static?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7680960" y="372160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680960" y="3721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1170432" y="39867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Considering:  </a:t>
            </a:r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paired comparison (Phase 1 static  vs  Phase 2 adaptive)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1170432" y="42062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 </a:t>
            </a:r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adherence · prediction accuracy · pace-ratio drift</a:t>
            </a:r>
            <a:pPr algn="l" indent="0" marL="0">
              <a:buNone/>
            </a:pPr>
            <a:r>
              <a:rPr lang="en-US" sz="950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seeking your guidance on evaluation rigor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D7D2C5"/>
            </a:solidFill>
            <a:prstDash val="solid"/>
          </a:ln>
        </p:spPr>
      </p:sp>
      <p:pic>
        <p:nvPicPr>
          <p:cNvPr id="43" name="Image 5" descr="pes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86884"/>
            <a:ext cx="539646" cy="2468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124862" y="478688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   ·   Rohit Saji   ·   First Guidance Call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8001000" y="47868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builds the platform.  Phase 2 adds the intelligent, closed-loop layer.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BUILD THESE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69164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673352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44" y="1773204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53619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Logger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session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481328"/>
            <a:ext cx="169164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24912" y="1673352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764" y="1773204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2968" y="153619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locally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1481328"/>
            <a:ext cx="169164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28032" y="1673352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884" y="1773204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6088" y="153619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Generator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from inputs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12280" y="1481328"/>
            <a:ext cx="169164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31152" y="1673352"/>
            <a:ext cx="384048" cy="384048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004" y="1773204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79208" y="153619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progress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" y="1773936"/>
            <a:ext cx="182880" cy="18288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980" y="1773936"/>
            <a:ext cx="182880" cy="18288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1773936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57200" y="2304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 Phase 1 data feeds the Phase 2 intelligent layer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502920" y="2578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RESEARCHING  ("could be …")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02920" y="2761488"/>
            <a:ext cx="1691640" cy="768096"/>
          </a:xfrm>
          <a:prstGeom prst="rect">
            <a:avLst/>
          </a:prstGeom>
          <a:solidFill>
            <a:srgbClr val="F7F5F0"/>
          </a:solidFill>
          <a:ln w="15875">
            <a:solidFill>
              <a:srgbClr val="3D7068"/>
            </a:solidFill>
            <a:prstDash val="dash"/>
          </a:ln>
        </p:spPr>
      </p:sp>
      <p:sp>
        <p:nvSpPr>
          <p:cNvPr id="28" name="Shape 19"/>
          <p:cNvSpPr/>
          <p:nvPr/>
        </p:nvSpPr>
        <p:spPr>
          <a:xfrm>
            <a:off x="621792" y="2953512"/>
            <a:ext cx="384048" cy="384048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644" y="3053364"/>
            <a:ext cx="184343" cy="18434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69848" y="281635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Calibration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Bayesian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2606040" y="2761488"/>
            <a:ext cx="1691640" cy="768096"/>
          </a:xfrm>
          <a:prstGeom prst="rect">
            <a:avLst/>
          </a:prstGeom>
          <a:solidFill>
            <a:srgbClr val="F7F5F0"/>
          </a:solidFill>
          <a:ln w="15875">
            <a:solidFill>
              <a:srgbClr val="3D7068"/>
            </a:solidFill>
            <a:prstDash val="dash"/>
          </a:ln>
        </p:spPr>
      </p:sp>
      <p:sp>
        <p:nvSpPr>
          <p:cNvPr id="32" name="Shape 22"/>
          <p:cNvSpPr/>
          <p:nvPr/>
        </p:nvSpPr>
        <p:spPr>
          <a:xfrm>
            <a:off x="2724912" y="2953512"/>
            <a:ext cx="384048" cy="384048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4764" y="3053364"/>
            <a:ext cx="184343" cy="184343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172968" y="281635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Monitor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CUSUM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4709160" y="2761488"/>
            <a:ext cx="1691640" cy="768096"/>
          </a:xfrm>
          <a:prstGeom prst="rect">
            <a:avLst/>
          </a:prstGeom>
          <a:solidFill>
            <a:srgbClr val="F7F5F0"/>
          </a:solidFill>
          <a:ln w="15875">
            <a:solidFill>
              <a:srgbClr val="3D7068"/>
            </a:solidFill>
            <a:prstDash val="dash"/>
          </a:ln>
        </p:spPr>
      </p:sp>
      <p:sp>
        <p:nvSpPr>
          <p:cNvPr id="36" name="Shape 25"/>
          <p:cNvSpPr/>
          <p:nvPr/>
        </p:nvSpPr>
        <p:spPr>
          <a:xfrm>
            <a:off x="4828032" y="2953512"/>
            <a:ext cx="384048" cy="384048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7884" y="3053364"/>
            <a:ext cx="184343" cy="18434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276088" y="281635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Predictor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GP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6812280" y="2761488"/>
            <a:ext cx="1691640" cy="768096"/>
          </a:xfrm>
          <a:prstGeom prst="rect">
            <a:avLst/>
          </a:prstGeom>
          <a:solidFill>
            <a:srgbClr val="F7F5F0"/>
          </a:solidFill>
          <a:ln w="15875">
            <a:solidFill>
              <a:srgbClr val="3D7068"/>
            </a:solidFill>
            <a:prstDash val="dash"/>
          </a:ln>
        </p:spPr>
      </p:sp>
      <p:sp>
        <p:nvSpPr>
          <p:cNvPr id="40" name="Shape 28"/>
          <p:cNvSpPr/>
          <p:nvPr/>
        </p:nvSpPr>
        <p:spPr>
          <a:xfrm>
            <a:off x="6931152" y="2953512"/>
            <a:ext cx="384048" cy="384048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1004" y="3053364"/>
            <a:ext cx="184343" cy="184343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7379208" y="281635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Regenerator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constraint-based</a:t>
            </a:r>
            <a:endParaRPr lang="en-US" sz="11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08860" y="3054096"/>
            <a:ext cx="182880" cy="182880"/>
          </a:xfrm>
          <a:prstGeom prst="rect">
            <a:avLst/>
          </a:prstGeom>
        </p:spPr>
      </p:pic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1980" y="3054096"/>
            <a:ext cx="182880" cy="182880"/>
          </a:xfrm>
          <a:prstGeom prst="rect">
            <a:avLst/>
          </a:prstGeom>
        </p:spPr>
      </p:pic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054096"/>
            <a:ext cx="182880" cy="182880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457200" y="3675888"/>
            <a:ext cx="8229600" cy="457200"/>
          </a:xfrm>
          <a:prstGeom prst="rect">
            <a:avLst/>
          </a:prstGeom>
          <a:solidFill>
            <a:srgbClr val="F2E4C6"/>
          </a:solidFill>
          <a:ln/>
        </p:spPr>
      </p:sp>
      <p:sp>
        <p:nvSpPr>
          <p:cNvPr id="47" name="Shape 31"/>
          <p:cNvSpPr/>
          <p:nvPr/>
        </p:nvSpPr>
        <p:spPr>
          <a:xfrm>
            <a:off x="658368" y="3739896"/>
            <a:ext cx="329184" cy="329184"/>
          </a:xfrm>
          <a:prstGeom prst="ellipse">
            <a:avLst/>
          </a:prstGeom>
          <a:solidFill>
            <a:srgbClr val="C9974B"/>
          </a:solidFill>
          <a:ln/>
        </p:spPr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3956" y="3825484"/>
            <a:ext cx="158008" cy="15800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1170432" y="36758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  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pace + new projection  →  schedule regenerated  →  feeds back to the Session Logger.</a:t>
            </a:r>
            <a:endParaRPr lang="en-US" sz="1000" dirty="0"/>
          </a:p>
        </p:txBody>
      </p:sp>
      <p:sp>
        <p:nvSpPr>
          <p:cNvPr id="50" name="Text 33"/>
          <p:cNvSpPr/>
          <p:nvPr/>
        </p:nvSpPr>
        <p:spPr>
          <a:xfrm>
            <a:off x="457200" y="4224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your input on this architecture.</a:t>
            </a:r>
            <a:endParaRPr lang="en-US" sz="1000" dirty="0"/>
          </a:p>
        </p:txBody>
      </p:sp>
      <p:sp>
        <p:nvSpPr>
          <p:cNvPr id="51" name="Shape 3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D7D2C5"/>
            </a:solidFill>
            <a:prstDash val="solid"/>
          </a:ln>
        </p:spPr>
      </p:sp>
      <p:pic>
        <p:nvPicPr>
          <p:cNvPr id="52" name="Image 15" descr="pes_logo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786884"/>
            <a:ext cx="539646" cy="246888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1124862" y="478688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   ·   Rohit Saji   ·   First Guidance Call</a:t>
            </a:r>
            <a:endParaRPr lang="en-US" sz="800" dirty="0"/>
          </a:p>
        </p:txBody>
      </p:sp>
      <p:sp>
        <p:nvSpPr>
          <p:cNvPr id="54" name="Text 36"/>
          <p:cNvSpPr/>
          <p:nvPr/>
        </p:nvSpPr>
        <p:spPr>
          <a:xfrm>
            <a:off x="8001000" y="47868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Methodology — 4-Stage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will compare candidate algorithms for each research area.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10512" cy="2148840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810512" cy="29260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465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33856" y="1965960"/>
            <a:ext cx="457200" cy="457200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08483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Learner Profiles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28437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literature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" y="3081528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3D70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08152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408176" y="3081528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3D70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08176" y="308152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3D70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3375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408176" y="3337560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3D70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08176" y="33375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587752" y="1417320"/>
            <a:ext cx="1810512" cy="2148840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587752" y="1417320"/>
            <a:ext cx="1810512" cy="29260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3" name="Text 20"/>
          <p:cNvSpPr/>
          <p:nvPr/>
        </p:nvSpPr>
        <p:spPr>
          <a:xfrm>
            <a:off x="2679192" y="14173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87752" y="17465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64408" y="1965960"/>
            <a:ext cx="457200" cy="457200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08483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660904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Data Generator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697480" y="284378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synthetic sessions with controlled ground truth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718304" y="1417320"/>
            <a:ext cx="1810512" cy="2148840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718304" y="1417320"/>
            <a:ext cx="1810512" cy="29260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1" name="Text 27"/>
          <p:cNvSpPr/>
          <p:nvPr/>
        </p:nvSpPr>
        <p:spPr>
          <a:xfrm>
            <a:off x="4809744" y="14173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718304" y="17465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394960" y="1965960"/>
            <a:ext cx="457200" cy="457200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2084832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791456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&amp; Compare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828032" y="284378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multiple algorithms, standard metrics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848856" y="1417320"/>
            <a:ext cx="1810512" cy="2148840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848856" y="1417320"/>
            <a:ext cx="1810512" cy="29260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9" name="Text 34"/>
          <p:cNvSpPr/>
          <p:nvPr/>
        </p:nvSpPr>
        <p:spPr>
          <a:xfrm>
            <a:off x="6940296" y="141732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848856" y="17465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7525512" y="1965960"/>
            <a:ext cx="457200" cy="457200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084832"/>
            <a:ext cx="219456" cy="21945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922008" y="2478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with Real Data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958584" y="284378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study sessions logged from the app</a:t>
            </a:r>
            <a:endParaRPr lang="en-US" sz="85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292" y="2400300"/>
            <a:ext cx="182880" cy="182880"/>
          </a:xfrm>
          <a:prstGeom prst="rect">
            <a:avLst/>
          </a:prstGeom>
        </p:spPr>
      </p:pic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844" y="2400300"/>
            <a:ext cx="182880" cy="182880"/>
          </a:xfrm>
          <a:prstGeom prst="rect">
            <a:avLst/>
          </a:prstGeom>
        </p:spPr>
      </p:pic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2400300"/>
            <a:ext cx="182880" cy="182880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2E4C6"/>
          </a:solidFill>
          <a:ln/>
        </p:spPr>
      </p:sp>
      <p:sp>
        <p:nvSpPr>
          <p:cNvPr id="49" name="Shape 40"/>
          <p:cNvSpPr/>
          <p:nvPr/>
        </p:nvSpPr>
        <p:spPr>
          <a:xfrm>
            <a:off x="658368" y="3767328"/>
            <a:ext cx="329184" cy="329184"/>
          </a:xfrm>
          <a:prstGeom prst="ellipse">
            <a:avLst/>
          </a:prstGeom>
          <a:solidFill>
            <a:srgbClr val="C9974B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956" y="3852916"/>
            <a:ext cx="158008" cy="15800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170432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KNOWN   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synthetic data we KNOW where behavioral shifts occur — so detection accuracy is precisely measurable.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457200" y="4233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generator itself is a research contribution.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D7D2C5"/>
            </a:solidFill>
            <a:prstDash val="solid"/>
          </a:ln>
        </p:spPr>
      </p:sp>
      <p:pic>
        <p:nvPicPr>
          <p:cNvPr id="54" name="Image 8" descr="pes_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786884"/>
            <a:ext cx="539646" cy="24688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124862" y="478688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   ·   Rohit Saji   ·   First Guidance Call</a:t>
            </a:r>
            <a:endParaRPr lang="en-US" sz="800" dirty="0"/>
          </a:p>
        </p:txBody>
      </p:sp>
      <p:sp>
        <p:nvSpPr>
          <p:cNvPr id="56" name="Text 45"/>
          <p:cNvSpPr/>
          <p:nvPr/>
        </p:nvSpPr>
        <p:spPr>
          <a:xfrm>
            <a:off x="8001000" y="47868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Roadmap — Across 3 Reviews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955280" cy="0"/>
          </a:xfrm>
          <a:prstGeom prst="line">
            <a:avLst/>
          </a:prstGeom>
          <a:noFill/>
          <a:ln w="19050">
            <a:solidFill>
              <a:srgbClr val="D7D2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399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3D70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137160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Call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2148840"/>
            <a:ext cx="76809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1488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91056" y="1399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7–8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12264" y="1664208"/>
            <a:ext cx="237744" cy="237744"/>
          </a:xfrm>
          <a:prstGeom prst="ellipse">
            <a:avLst/>
          </a:prstGeom>
          <a:solidFill>
            <a:srgbClr val="C997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53896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73936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82112" y="1399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14–15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1709928"/>
            <a:ext cx="146304" cy="146304"/>
          </a:xfrm>
          <a:prstGeom prst="ellipse">
            <a:avLst/>
          </a:prstGeom>
          <a:solidFill>
            <a:srgbClr val="3D70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Call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73168" y="1399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21–22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94376" y="1664208"/>
            <a:ext cx="237744" cy="237744"/>
          </a:xfrm>
          <a:prstGeom prst="ellipse">
            <a:avLst/>
          </a:prstGeom>
          <a:solidFill>
            <a:srgbClr val="C997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56048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4224" y="1399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28–29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31152" y="1709928"/>
            <a:ext cx="146304" cy="146304"/>
          </a:xfrm>
          <a:prstGeom prst="ellipse">
            <a:avLst/>
          </a:prstGeom>
          <a:solidFill>
            <a:srgbClr val="3D70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Call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0" y="1399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5–6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76488" y="1664208"/>
            <a:ext cx="237744" cy="237744"/>
          </a:xfrm>
          <a:prstGeom prst="ellipse">
            <a:avLst/>
          </a:prstGeom>
          <a:solidFill>
            <a:srgbClr val="C997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3816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578608"/>
            <a:ext cx="2651760" cy="29260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2578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30%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871216"/>
            <a:ext cx="2651760" cy="132588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2962656"/>
            <a:ext cx="23957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algorithms identified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references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 + event store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578608"/>
            <a:ext cx="2651760" cy="29260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2578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80%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46120" y="2871216"/>
            <a:ext cx="2651760" cy="132588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2962656"/>
            <a:ext cx="23957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algorithm design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contribution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comparison results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generator + comparison scripts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scheduler + dashboard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2578608"/>
            <a:ext cx="2651760" cy="292608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37" name="Text 35"/>
          <p:cNvSpPr/>
          <p:nvPr/>
        </p:nvSpPr>
        <p:spPr>
          <a:xfrm>
            <a:off x="6144768" y="2578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 ·  100%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2871216"/>
            <a:ext cx="2651760" cy="132588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2962656"/>
            <a:ext cx="23957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design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experimental results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(4 profiles)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of static planner</a:t>
            </a:r>
            <a:endParaRPr lang="en-US" sz="9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journal paper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solidFill>
            <a:srgbClr val="F2E4C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plan align with your expectations for Phase 1?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D7D2C5"/>
            </a:solidFill>
            <a:prstDash val="solid"/>
          </a:ln>
        </p:spPr>
      </p:sp>
      <p:pic>
        <p:nvPicPr>
          <p:cNvPr id="43" name="Image 0" descr="pe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86884"/>
            <a:ext cx="539646" cy="24688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24862" y="478688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   ·   Rohit Saji   ·   First Guidance Call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001000" y="47868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Study Planning for Self-Directed Learners</dc:title>
  <dc:subject>PptxGenJS Presentation</dc:subject>
  <dc:creator>Rohit Saji</dc:creator>
  <cp:lastModifiedBy>Rohit Saji</cp:lastModifiedBy>
  <cp:revision>1</cp:revision>
  <dcterms:created xsi:type="dcterms:W3CDTF">2026-05-31T03:42:35Z</dcterms:created>
  <dcterms:modified xsi:type="dcterms:W3CDTF">2026-05-31T03:42:35Z</dcterms:modified>
</cp:coreProperties>
</file>