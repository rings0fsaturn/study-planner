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52822"/>
                </a:solidFill>
                <a:latin typeface="Cambria"/>
              </a:rPr>
              <a:t>Projection interval coverage (nominal 0.95)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Plain GP</c:v>
                </c:pt>
              </c:strCache>
            </c:strRef>
          </c:tx>
          <c:spPr>
            <a:solidFill>
              <a:srgbClr val="B4552F"/>
            </a:solidFill>
          </c:spPr>
          <c:cat>
            <c:strRef>
              <c:f>Sheet1!$A$2:$A$4</c:f>
              <c:strCache>
                <c:ptCount val="3"/>
                <c:pt idx="0">
                  <c:v>Short</c:v>
                </c:pt>
                <c:pt idx="1">
                  <c:v>Medium</c:v>
                </c:pt>
                <c:pt idx="2">
                  <c:v>Long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0.438</c:v>
                </c:pt>
                <c:pt idx="1">
                  <c:v>0.291</c:v>
                </c:pt>
                <c:pt idx="2">
                  <c:v>0.187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Conformal</c:v>
                </c:pt>
              </c:strCache>
            </c:strRef>
          </c:tx>
          <c:spPr>
            <a:solidFill>
              <a:srgbClr val="3E6B4A"/>
            </a:solidFill>
          </c:spPr>
          <c:cat>
            <c:strRef>
              <c:f>Sheet1!$A$2:$A$4</c:f>
              <c:strCache>
                <c:ptCount val="3"/>
                <c:pt idx="0">
                  <c:v>Short</c:v>
                </c:pt>
                <c:pt idx="1">
                  <c:v>Medium</c:v>
                </c:pt>
                <c:pt idx="2">
                  <c:v>Long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0.969</c:v>
                </c:pt>
                <c:pt idx="1">
                  <c:v>0.99</c:v>
                </c:pt>
                <c:pt idx="2">
                  <c:v>0.937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2528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528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E6B6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13232"/>
            <a:ext cx="146304" cy="146304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713232"/>
            <a:ext cx="146304" cy="146304"/>
          </a:xfrm>
          <a:prstGeom prst="ellipse">
            <a:avLst/>
          </a:prstGeom>
          <a:solidFill>
            <a:srgbClr val="B4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AA082"/>
                </a:solidFill>
                <a:latin typeface="Calibri"/>
              </a:rPr>
              <a:t>PES UNIVERSITY,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Adaptive Study Planning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for Self-Directed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393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EAE3D5"/>
                </a:solidFill>
                <a:latin typeface="Calibri"/>
              </a:rPr>
              <a:t>Context-aware pace calibration, change detection, and a local-first adaptive 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0749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AA082"/>
                </a:solidFill>
                <a:latin typeface="Calibri"/>
              </a:rPr>
              <a:t>PRESENTED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Rohit Saji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AE3D5"/>
                </a:solidFill>
                <a:latin typeface="Calibri"/>
              </a:rPr>
              <a:t>PES2PGE24DS201  ·  M.Tech, Data Science &amp;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2472" y="489204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507492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AA082"/>
                </a:solidFill>
                <a:latin typeface="Calibri"/>
              </a:rPr>
              <a:t>UNDER THE GUIDANCE OF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FFFFFF"/>
                </a:solidFill>
                <a:latin typeface="Cambria"/>
              </a:rPr>
              <a:t>Prof. Ramesh Prakash Guledgudd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EAE3D5"/>
                </a:solidFill>
                <a:latin typeface="Calibri"/>
              </a:rPr>
              <a:t>Project Phase-1  ·  3rd Review  ·  04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What this review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AA082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728216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252822"/>
                </a:solidFill>
                <a:latin typeface="Cambria"/>
              </a:rPr>
              <a:t>The problem &amp; Phase-1 objectives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Why static study plans fail self-directed learners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42032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AA082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670048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252822"/>
                </a:solidFill>
                <a:latin typeface="Cambria"/>
              </a:rPr>
              <a:t>System architecture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Local-first client + Python intelligence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83864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93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AA082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611880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252822"/>
                </a:solidFill>
                <a:latin typeface="Cambria"/>
              </a:rPr>
              <a:t>The Phase-1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Onboarding, roadmap, sessions, progress &amp; replan — walked through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25696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35424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AA082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53712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252822"/>
                </a:solidFill>
                <a:latin typeface="Cambria"/>
              </a:rPr>
              <a:t>Evaluation results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Honest offline comparison on synthetic ground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67528"/>
            <a:ext cx="10972800" cy="841248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477256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7AA082"/>
                </a:solidFill>
                <a:latin typeface="Cambr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495544"/>
            <a:ext cx="9418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252822"/>
                </a:solidFill>
                <a:latin typeface="Cambria"/>
              </a:rPr>
              <a:t>Phase-2 future work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Closing the loop with verified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A one-time plan stops matching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52822"/>
                </a:solidFill>
                <a:latin typeface="Calibri"/>
              </a:rPr>
              <a:t>A self-directed learner starts with a fixed plan — </a:t>
            </a:r>
            <a:r>
              <a:rPr sz="1500" b="0" i="1">
                <a:solidFill>
                  <a:srgbClr val="252822"/>
                </a:solidFill>
                <a:latin typeface="Calibri"/>
              </a:rPr>
              <a:t>“two hours a day, finish by this date.”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52822"/>
                </a:solidFill>
                <a:latin typeface="Calibri"/>
              </a:rPr>
              <a:t>Within days the plan no longer holds: pace varies, material takes longer than guessed, and the fixed schedule never adjusts. The finish date silently becomes wrong while still being displayed as valid.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52822"/>
                </a:solidFill>
                <a:latin typeface="Calibri"/>
              </a:rPr>
              <a:t>Existing tools cover only one side.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6E6B60"/>
                </a:solidFill>
                <a:latin typeface="Calibri"/>
              </a:rPr>
              <a:t>Time-trackers record effort but never plan; static generators schedule once and never revise against realised pace.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52822"/>
                </a:solidFill>
                <a:latin typeface="Calibri"/>
              </a:rPr>
              <a:t>Two constraints shape every method choice: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B4552F"/>
                </a:solidFill>
                <a:latin typeface="Calibri"/>
              </a:rPr>
              <a:t>sparse per-learner data and non-stationary behaviour.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600200"/>
            <a:ext cx="4160520" cy="1325880"/>
          </a:xfrm>
          <a:prstGeom prst="roundRect">
            <a:avLst>
              <a:gd name="adj" fmla="val 1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78308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B4552F"/>
                </a:solidFill>
                <a:latin typeface="Calibri"/>
              </a:rPr>
              <a:t>THE GAP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52822"/>
                </a:solidFill>
                <a:latin typeface="Calibri"/>
              </a:rPr>
              <a:t>No planner treats a learner's own logged behaviour as evidence, updates its pace estimate, and regenerates the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3108960"/>
            <a:ext cx="4160520" cy="1234440"/>
          </a:xfrm>
          <a:prstGeom prst="roundRect">
            <a:avLst>
              <a:gd name="adj" fmla="val 10000"/>
            </a:avLst>
          </a:prstGeom>
          <a:solidFill>
            <a:srgbClr val="2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3273552"/>
            <a:ext cx="3657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AA082"/>
                </a:solidFill>
                <a:latin typeface="Calibri"/>
              </a:rPr>
              <a:t>SPARSE DATA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 learner logs only a handful of sessions before the plan first needs to adapt.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4526280"/>
            <a:ext cx="4160520" cy="1234440"/>
          </a:xfrm>
          <a:prstGeom prst="roundRect">
            <a:avLst>
              <a:gd name="adj" fmla="val 10000"/>
            </a:avLst>
          </a:prstGeom>
          <a:solidFill>
            <a:srgbClr val="2C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4690872"/>
            <a:ext cx="3657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AA082"/>
                </a:solidFill>
                <a:latin typeface="Calibri"/>
              </a:rPr>
              <a:t>NON-STATIONARY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Pace shifts with circumstances — a real change must be told apart from daily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PHASE-1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Build &amp; evaluate the open-loop adaptive 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1911095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1109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Calibrate pace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Hierarchical Bayesian + context-aware shrinkage — usable from few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0020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54296" y="1911095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91109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4231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Detect shifts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Statistical change-point detection so the plan reacts to real change, not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0020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75904" y="1911095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91109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4231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Project completion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Gaussian-process regression giving a calibrated band, not a single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831336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831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434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Regenerate schedule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Re-plan from realised capacity when the projected finish drifts from the deadline.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352044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54296" y="3831336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3831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3434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Evaluate honestly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Compare each component vs. baselines on synthetic ground truth, with CIs &amp; correction.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3520440"/>
            <a:ext cx="3538728" cy="173736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75904" y="3831336"/>
            <a:ext cx="384048" cy="384048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831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43434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252822"/>
                </a:solidFill>
                <a:latin typeface="Cambria"/>
              </a:rPr>
              <a:t>Ship a real app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E6B60"/>
                </a:solidFill>
                <a:latin typeface="Calibri"/>
              </a:rPr>
              <a:t>Realise the selected models in a working, local-first web application.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One behaviour, split across client &amp;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4982" y="1124711"/>
            <a:ext cx="4986595" cy="5340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revise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990" y="1188719"/>
            <a:ext cx="4858579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56692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3E6B4A"/>
                </a:solidFill>
                <a:latin typeface="Cambria"/>
              </a:rPr>
              <a:t>Client — local-first app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52822"/>
                </a:solidFill>
                <a:latin typeface="Calibri"/>
              </a:rPr>
              <a:t>React / Vite over Dexie (IndexedDB). Session logging, booking UI and dashboards. Progress projection and the capacity-based booking engine run in the browser.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B4552F"/>
                </a:solidFill>
                <a:latin typeface="Cambria"/>
              </a:rPr>
              <a:t>Intelligence Service — Python / FastAPI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52822"/>
                </a:solidFill>
                <a:latin typeface="Calibri"/>
              </a:rPr>
              <a:t>Model-fitting over accumulated history: Bayesian + enriched-shrinkage pace calibration and CUSUM change detection, reached over a token-verified HTTP endpoint.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3E6B4A"/>
                </a:solidFill>
                <a:latin typeface="Cambria"/>
              </a:rPr>
              <a:t>Offline Research — Python / NumPy / SciPy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52822"/>
                </a:solidFill>
                <a:latin typeface="Calibri"/>
              </a:rPr>
              <a:t>The research harness imports the production engines as candidates, so a measured result is a result about the shipped code.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1">
                <a:solidFill>
                  <a:srgbClr val="6E6B60"/>
                </a:solidFill>
                <a:latin typeface="Calibri"/>
              </a:rPr>
              <a:t>Dashed feedback = Phase-2 closed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AA082"/>
                </a:solidFill>
                <a:latin typeface="Calibri"/>
              </a:rPr>
              <a:t>THE PHASE-1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A working planner built around four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19" y="1947672"/>
            <a:ext cx="146304" cy="146304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562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Plan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24963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E3D5"/>
                </a:solidFill>
                <a:latin typeface="Calibri"/>
              </a:rPr>
              <a:t>4-step onboarding turns a deadline, weekly capacity and materials into a booked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947672"/>
            <a:ext cx="146304" cy="146304"/>
          </a:xfrm>
          <a:prstGeom prst="ellipse">
            <a:avLst/>
          </a:prstGeom>
          <a:solidFill>
            <a:srgbClr val="B4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562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Study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963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E3D5"/>
                </a:solidFill>
                <a:latin typeface="Calibri"/>
              </a:rPr>
              <a:t>A session runtime with Pomodoro, YouTube tracking and a stale-session recovery state machine.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19" y="4096511"/>
            <a:ext cx="146304" cy="146304"/>
          </a:xfrm>
          <a:prstGeom prst="ellipse">
            <a:avLst/>
          </a:prstGeom>
          <a:solidFill>
            <a:srgbClr val="C8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00507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Progress &amp; adaptation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6451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E3D5"/>
                </a:solidFill>
                <a:latin typeface="Calibri"/>
              </a:rPr>
              <a:t>Home, Week and Replan report calibrated pace, a projected finish and levers to adjust the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394960" cy="1965960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4096511"/>
            <a:ext cx="146304" cy="146304"/>
          </a:xfrm>
          <a:prstGeom prst="ellipse">
            <a:avLst/>
          </a:prstGeom>
          <a:solidFill>
            <a:srgbClr val="7A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00507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Plan 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64515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EAE3D5"/>
                </a:solidFill>
                <a:latin typeface="Calibri"/>
              </a:rPr>
              <a:t>A month-grid roadmap calendar and a dashboard tracking plans from draft to completion.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7AA082"/>
                </a:solidFill>
                <a:latin typeface="Calibri"/>
              </a:rPr>
              <a:t>All four rest on a local-first, event-sourced data layer — every view is derived by replaying an immutable event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PLAN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Onboarding &amp; roadmap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52822"/>
                </a:solidFill>
                <a:latin typeface="Calibri"/>
              </a:rPr>
              <a:t>A 4-step wizard collects the planner's inputs: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deadline &amp; purpose  ·  weekly capacity (weekday / weekend split)  ·  materials (link → auto-classified, role-tagged)  ·  a read-only summary.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The client-side engine lays capacity-sized bookings across study days between start and deadline — the specific material is chosen at session start, not pre-packed.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E6B60"/>
                </a:solidFill>
                <a:latin typeface="Calibri"/>
              </a:rPr>
              <a:t>Draft state is written to the local log on every step, so a closed tab resumes where it stopped.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440680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5596128"/>
            <a:ext cx="5074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52822"/>
                </a:solidFill>
                <a:latin typeface="Calibri"/>
              </a:rPr>
              <a:t>Commits emit </a:t>
            </a:r>
            <a:r>
              <a:rPr sz="1250" b="1" i="0">
                <a:solidFill>
                  <a:srgbClr val="3E6B4A"/>
                </a:solidFill>
                <a:latin typeface="Calibri"/>
              </a:rPr>
              <a:t>MaterialAdded · RoadmapCreated · SessionBooked · OnboardingCompleted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01321" y="1307592"/>
            <a:ext cx="2891197" cy="51572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onboardin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329" y="1371600"/>
            <a:ext cx="2763181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PLAN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The roadmap calendar  —  newly built this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6272" y="1399031"/>
            <a:ext cx="5001055" cy="50657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280" y="1463039"/>
            <a:ext cx="4873039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72768"/>
            <a:ext cx="46634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1" i="0">
                <a:solidFill>
                  <a:srgbClr val="252822"/>
                </a:solidFill>
                <a:latin typeface="Calibri"/>
              </a:rPr>
              <a:t>The whole plan as a month grid.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Study days are tinted; each booking sits on its day, coloured by material role.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A booking's status — unstarted, in-progress, done, trimmed or interrupted — is </a:t>
            </a:r>
            <a:r>
              <a:rPr sz="1400" b="1" i="0">
                <a:solidFill>
                  <a:srgbClr val="B4552F"/>
                </a:solidFill>
                <a:latin typeface="Calibri"/>
              </a:rPr>
              <a:t>derived from logged sessions, never stored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, so it always matches what happened.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Selecting a day opens a sheet to add, edit or clear a booking and mark progress.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6E6B60"/>
                </a:solidFill>
                <a:latin typeface="Calibri"/>
              </a:rPr>
              <a:t>A provisional finish estimate and a burn-up line sit alongside the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STUDY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The study session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52822"/>
                </a:solidFill>
                <a:latin typeface="Calibri"/>
              </a:rPr>
              <a:t>Study is started from the plan; the material is chosen at that moment.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A timer with optional Pomodoro (50 / 10) runs on wall-clock time, so a due break still arrives after a pause. YouTube plays in a tracked embedded player that resumes a playlist where it left off.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A small state machine over idle / active / paused recognises a </a:t>
            </a:r>
            <a:r>
              <a:rPr sz="1400" b="1" i="0">
                <a:solidFill>
                  <a:srgbClr val="B4552F"/>
                </a:solidFill>
                <a:latin typeface="Calibri"/>
              </a:rPr>
              <a:t>stale session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 (timer left overnight) and offers recovery instead of logging a spurious multi-hour session.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5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E6B60"/>
                </a:solidFill>
                <a:latin typeface="Calibri"/>
              </a:rPr>
              <a:t>On end it records minutes worked, pauses, Pomodoro blocks and position reached.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2199132"/>
            <a:ext cx="5614416" cy="3557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63139"/>
            <a:ext cx="54864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PROGRESS &amp;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Home &amp; Week: how the plan is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E6B4A"/>
                </a:solidFill>
                <a:latin typeface="Cambria"/>
              </a:rPr>
              <a:t>Home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  summarises the state in one view: next booking, current &amp; best streak, </a:t>
            </a:r>
            <a:r>
              <a:rPr sz="1400" b="1" i="0">
                <a:solidFill>
                  <a:srgbClr val="252822"/>
                </a:solidFill>
                <a:latin typeface="Calibri"/>
              </a:rPr>
              <a:t>calibrated pace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 (from the service) and the projected finish date.    </a:t>
            </a:r>
            <a:r>
              <a:rPr sz="1550" b="1" i="0">
                <a:solidFill>
                  <a:srgbClr val="B4552F"/>
                </a:solidFill>
                <a:latin typeface="Cambria"/>
              </a:rPr>
              <a:t>Week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  gives a single verdict — ahead / on-track / behind — over a daily-minutes chart and a burn-up projection with a 95%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B60"/>
                </a:solidFill>
                <a:latin typeface="Calibri"/>
              </a:rPr>
              <a:t>HOME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3957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B60"/>
                </a:solidFill>
                <a:latin typeface="Calibri"/>
              </a:rPr>
              <a:t>WEEK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9082" y="2752344"/>
            <a:ext cx="3182714" cy="36027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90" y="2816352"/>
            <a:ext cx="3054698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38600" y="2752344"/>
            <a:ext cx="5153599" cy="36027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_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608" y="2816352"/>
            <a:ext cx="5025583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PROGRESS &amp;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Replan: adjust without silent rewrites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252822"/>
                </a:solidFill>
                <a:latin typeface="Calibri"/>
              </a:rPr>
              <a:t>Divergence never rewrites the plan on its own.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Change detection runs server-side on the same calibration call and surfaces a </a:t>
            </a:r>
            <a:r>
              <a:rPr sz="1400" b="1" i="0">
                <a:solidFill>
                  <a:srgbClr val="B4552F"/>
                </a:solidFill>
                <a:latin typeface="Calibri"/>
              </a:rPr>
              <a:t>recalibration prompt</a:t>
            </a:r>
            <a:r>
              <a:rPr sz="1400" b="0" i="0">
                <a:solidFill>
                  <a:srgbClr val="252822"/>
                </a:solidFill>
                <a:latin typeface="Calibri"/>
              </a:rPr>
              <a:t> the learner can accept, acknowledge or defer.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252822"/>
                </a:solidFill>
                <a:latin typeface="Calibri"/>
              </a:rPr>
              <a:t>Replan offers three independent levers: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extend / shorten the deadline  ·  raise / lower weekly hours  ·  drop or trim materials.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E6B60"/>
                </a:solidFill>
                <a:latin typeface="Calibri"/>
              </a:rPr>
              <a:t>Each lever shows its effect on the projected finish before it is committed. Confirming re-lays bookings and records a RoadmapReplanned event that preserves the plan's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28231" y="2244852"/>
            <a:ext cx="5614416" cy="355701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_re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08860"/>
            <a:ext cx="54864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WALKTHROUGH · PLAN LIFECYCLE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Roadmaps dashboard + a local-first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22671" y="1833372"/>
            <a:ext cx="5894017" cy="41056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_road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679" y="1897380"/>
            <a:ext cx="5766001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72768"/>
            <a:ext cx="48463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52822"/>
                </a:solidFill>
                <a:latin typeface="Calibri"/>
              </a:rPr>
              <a:t>Plans across their lifecycle.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Active plan with progress, a resumable onboarding draft, and completed / abandoned plans kept as reopenable history. Replans collapse into one entry.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3E6B4A"/>
                </a:solidFill>
                <a:latin typeface="Cambria"/>
              </a:rPr>
              <a:t>Local-first, event-sourced.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Every action is an immutable event in the browser's IndexedDB; every view is a replay. The loop works offline and reconciles when a connection returns.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E6B60"/>
                </a:solidFill>
                <a:latin typeface="Calibri"/>
              </a:rPr>
              <a:t>Per-user local DB (no cross-account bleed) + a write-ahead queue and periodic snapshots to Supabase for cloud durability.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How each component was judged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3E6B4A"/>
                </a:solidFill>
                <a:latin typeface="Cambria"/>
              </a:rPr>
              <a:t>Synthetic ground truth.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A generator plants each learner's true pace, the timing/size of any shift, and completion behaviour — so latency, coverage and recovery error are all measurable. Its realism regime is calibrated against OULAD (not used as a benchmark).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B4552F"/>
                </a:solidFill>
                <a:latin typeface="Cambria"/>
              </a:rPr>
              <a:t>Held-out &amp; corrected.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200 seeds and held-out learner archetypes; every comparison carries a bootstrap confidence interval on the candidate–incumbent difference, with Holm / Benjamini–Hochberg correction across the family.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252822"/>
                </a:solidFill>
                <a:latin typeface="Calibri"/>
              </a:rPr>
              <a:t/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3E6B4A"/>
                </a:solidFill>
                <a:latin typeface="Cambria"/>
              </a:rPr>
              <a:t>Reproducible.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52822"/>
                </a:solidFill>
                <a:latin typeface="Calibri"/>
              </a:rPr>
              <a:t>Fixed seeds and make targets regenerate the dataset, comparisons and figures deterministically; each figure carries a provenance stamp.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5727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6B60"/>
                </a:solidFill>
                <a:latin typeface="Calibri"/>
              </a:rPr>
              <a:t>METRICS PER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96596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093976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2822"/>
                </a:solidFill>
                <a:latin typeface="Cambria"/>
              </a:rPr>
              <a:t>Pace calibration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recovery error · prospective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990088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118104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2822"/>
                </a:solidFill>
                <a:latin typeface="Cambria"/>
              </a:rPr>
              <a:t>Change detection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detection latency · false-alarm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014216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4142232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2822"/>
                </a:solidFill>
                <a:latin typeface="Cambria"/>
              </a:rPr>
              <a:t>Progress projection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interval coverage · point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5038344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5166360"/>
            <a:ext cx="4206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52822"/>
                </a:solidFill>
                <a:latin typeface="Cambria"/>
              </a:rPr>
              <a:t>Schedule generation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E6B60"/>
                </a:solidFill>
                <a:latin typeface="Calibri"/>
              </a:rPr>
              <a:t>deadline drift · capacity violations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52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52822"/>
                </a:solidFill>
                <a:latin typeface="Cambria"/>
              </a:rPr>
              <a:t>Honest nulls, real wins, one deferred fix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37360"/>
          <a:ext cx="52120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064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E6B60"/>
                </a:solidFill>
                <a:latin typeface="Calibri"/>
              </a:rPr>
              <a:t>Raw GP under-covers badly (0.19–0.49); a split-conformal correction restores 0.94–0.99 at the same point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349240" cy="96012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8232" y="2121408"/>
            <a:ext cx="182880" cy="182880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39128" y="1847088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52822"/>
                </a:solidFill>
                <a:latin typeface="Cambria"/>
              </a:rPr>
              <a:t>Pace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9128" y="2139696"/>
            <a:ext cx="4526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E6B60"/>
                </a:solidFill>
                <a:latin typeface="Calibri"/>
              </a:rPr>
              <a:t>Honest null on recovery error — but a Holm-surviving WIN on the short-history prospective estimate the planner acts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8470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E6B4A"/>
                </a:solidFill>
                <a:latin typeface="Calibri"/>
              </a:rPr>
              <a:t>WIN (prospective)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70632"/>
            <a:ext cx="5349240" cy="96012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2" y="3154679"/>
            <a:ext cx="182880" cy="182880"/>
          </a:xfrm>
          <a:prstGeom prst="ellipse">
            <a:avLst/>
          </a:prstGeom>
          <a:solidFill>
            <a:srgbClr val="6E6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2880360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52822"/>
                </a:solidFill>
                <a:latin typeface="Cambria"/>
              </a:rPr>
              <a:t>Change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172968"/>
            <a:ext cx="4526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E6B60"/>
                </a:solidFill>
                <a:latin typeface="Calibri"/>
              </a:rPr>
              <a:t>Robust null: nothing beats the CUSUM frontier. Ship the fastest (≈1.4 sessions) — it feeds a human-confirmed prompt.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28803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6B60"/>
                </a:solidFill>
                <a:latin typeface="Calibri"/>
              </a:rPr>
              <a:t>NULL — ship CUSUM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03904"/>
            <a:ext cx="5349240" cy="96012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4187952"/>
            <a:ext cx="182880" cy="182880"/>
          </a:xfrm>
          <a:prstGeom prst="ellipse">
            <a:avLst/>
          </a:prstGeom>
          <a:solidFill>
            <a:srgbClr val="C8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3913632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52822"/>
                </a:solidFill>
                <a:latin typeface="Cambria"/>
              </a:rPr>
              <a:t>Progress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4206240"/>
            <a:ext cx="4526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E6B60"/>
                </a:solidFill>
                <a:latin typeface="Calibri"/>
              </a:rPr>
              <a:t>Clearest finding: raw GP interval under-covers; split-conformal fixes it. Validated but DEFERRED to Phase-2.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91363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88A3E"/>
                </a:solidFill>
                <a:latin typeface="Calibri"/>
              </a:rPr>
              <a:t>FIX DEFERRED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37176"/>
            <a:ext cx="5349240" cy="960120"/>
          </a:xfrm>
          <a:prstGeom prst="roundRect">
            <a:avLst>
              <a:gd name="adj" fmla="val 9000"/>
            </a:avLst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2" y="5221224"/>
            <a:ext cx="182880" cy="182880"/>
          </a:xfrm>
          <a:prstGeom prst="ellipse">
            <a:avLst/>
          </a:prstGeom>
          <a:solidFill>
            <a:srgbClr val="B4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4946904"/>
            <a:ext cx="45262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52822"/>
                </a:solidFill>
                <a:latin typeface="Cambria"/>
              </a:rPr>
              <a:t>Schedule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5239512"/>
            <a:ext cx="4526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E6B60"/>
                </a:solidFill>
                <a:latin typeface="Calibri"/>
              </a:rPr>
              <a:t>DP allocator cuts deadline drift (39→8 days on the full mix) — a real win the system deliberately does NOT ship (redesign removed the packing problem).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4946904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4552F"/>
                </a:solidFill>
                <a:latin typeface="Calibri"/>
              </a:rPr>
              <a:t>WIN — not shipped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Adaptive Study Planning for Self-Directed Learners  ·  Phase-1  ·  3rd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B6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3E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Phase-2: close the loop with verified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EAE3D5"/>
                </a:solidFill>
                <a:latin typeface="Calibri"/>
              </a:rPr>
              <a:t>The pace signal today is self-reported time — which is gameable. Phase-2 checks that studying produced learning.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972800" cy="1371600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267712"/>
            <a:ext cx="384048" cy="384048"/>
          </a:xfrm>
          <a:prstGeom prst="ellipse">
            <a:avLst/>
          </a:prstGeom>
          <a:solidFill>
            <a:srgbClr val="C8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A2E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1226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mbria"/>
              </a:rPr>
              <a:t>Verified learning</a:t>
            </a:r>
            <a:r>
              <a:rPr sz="1250" b="0" i="1">
                <a:solidFill>
                  <a:srgbClr val="C88A3E"/>
                </a:solidFill>
                <a:latin typeface="Calibri"/>
              </a:rPr>
              <a:t>   — the principal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78024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AE3D5"/>
                </a:solidFill>
                <a:latin typeface="Calibri"/>
              </a:rPr>
              <a:t>Generate concept-tagged assessments from the learner's own material with LLMs, tag items to knowledge components, auto-grade, and estimate genuine mastery with cold-start knowledge tracing. Feed verified mastery back into pace calibration — closing the dashed loop — with spaced-repetition review timing.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83863"/>
            <a:ext cx="10972800" cy="932688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785615"/>
            <a:ext cx="384048" cy="384048"/>
          </a:xfrm>
          <a:prstGeom prst="ellipse">
            <a:avLst/>
          </a:prstGeom>
          <a:solidFill>
            <a:srgbClr val="C8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78561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A2E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3016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mbria"/>
              </a:rPr>
              <a:t>Ship the deferred fix</a:t>
            </a:r>
            <a:r>
              <a:rPr sz="1250" b="0" i="1">
                <a:solidFill>
                  <a:srgbClr val="C88A3E"/>
                </a:solidFill>
                <a:latin typeface="Calibri"/>
              </a:rPr>
              <a:t>   — validated in Phase-1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95927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AE3D5"/>
                </a:solidFill>
                <a:latin typeface="Calibri"/>
              </a:rPr>
              <a:t>Deliver the split-conformal correction that restores projection-interval coverage past the cold-start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62855"/>
            <a:ext cx="10972800" cy="932688"/>
          </a:xfrm>
          <a:prstGeom prst="roundRect">
            <a:avLst>
              <a:gd name="adj" fmla="val 7000"/>
            </a:avLst>
          </a:prstGeom>
          <a:solidFill>
            <a:srgbClr val="222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864607"/>
            <a:ext cx="384048" cy="384048"/>
          </a:xfrm>
          <a:prstGeom prst="ellipse">
            <a:avLst/>
          </a:prstGeom>
          <a:solidFill>
            <a:srgbClr val="C8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646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A2E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59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mbria"/>
              </a:rPr>
              <a:t>Longitudinal validation</a:t>
            </a:r>
            <a:r>
              <a:rPr sz="1250" b="0" i="1">
                <a:solidFill>
                  <a:srgbClr val="C88A3E"/>
                </a:solidFill>
                <a:latin typeface="Calibri"/>
              </a:rPr>
              <a:t>   — beyond synthetic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19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AE3D5"/>
                </a:solidFill>
                <a:latin typeface="Calibri"/>
              </a:rPr>
              <a:t>Validate on one learner's own logged sessions over time — closed-loop adaptive vs. static open-loop — on schedule adherence and measured learning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7AA082"/>
                </a:solidFill>
                <a:latin typeface="Calibri"/>
              </a:rPr>
              <a:t>Phase-1 contribution: an integrated, open-loop adaptive planner over a single learner's own behaviour, with an honest account of what improves, what doesn't, and what is validated but not yet shipped.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1508760"/>
            <a:ext cx="146304" cy="146304"/>
          </a:xfrm>
          <a:prstGeom prst="ellipse">
            <a:avLst/>
          </a:prstGeom>
          <a:solidFill>
            <a:srgbClr val="3E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508760"/>
            <a:ext cx="146304" cy="146304"/>
          </a:xfrm>
          <a:prstGeom prst="ellipse">
            <a:avLst/>
          </a:prstGeom>
          <a:solidFill>
            <a:srgbClr val="B45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Phase-1 delivered a working,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honestly-evaluated adaptive planner.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9476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EAE3D5"/>
                </a:solidFill>
                <a:latin typeface="Calibri"/>
              </a:rPr>
              <a:t>Calibration · change detection · projection · booking — realised in a local-first app, </a:t>
            </a:r>
            <a:r>
              <a:rPr sz="1550" b="0" i="1">
                <a:solidFill>
                  <a:srgbClr val="EAE3D5"/>
                </a:solidFill>
                <a:latin typeface="Calibri"/>
              </a:rPr>
              <a:t>with Phase-2 set to close the loop through verified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0749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Thank you  —  questions 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06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A082"/>
                </a:solidFill>
                <a:latin typeface="Calibri"/>
              </a:rPr>
              <a:t>Rohit Saji (PES2PGE24DS201)  ·  Guide: Prof. Ramesh Prakash Guledgudd  ·  PES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